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3" r:id="rId1"/>
  </p:sldMasterIdLst>
  <p:notesMasterIdLst>
    <p:notesMasterId r:id="rId14"/>
  </p:notesMasterIdLst>
  <p:sldIdLst>
    <p:sldId id="256" r:id="rId2"/>
    <p:sldId id="257" r:id="rId3"/>
    <p:sldId id="258" r:id="rId4"/>
    <p:sldId id="261" r:id="rId5"/>
    <p:sldId id="259" r:id="rId6"/>
    <p:sldId id="260"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136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9F786-71BB-4BB8-BE7B-B3BE70030681}" type="datetimeFigureOut">
              <a:rPr lang="en-GB" smtClean="0"/>
              <a:t>18/01/2026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2851E-233A-4EA3-BE28-A9178B9491F4}" type="slidenum">
              <a:rPr lang="en-GB" smtClean="0"/>
              <a:t>‹#›</a:t>
            </a:fld>
            <a:endParaRPr lang="en-GB"/>
          </a:p>
        </p:txBody>
      </p:sp>
    </p:spTree>
    <p:extLst>
      <p:ext uri="{BB962C8B-B14F-4D97-AF65-F5344CB8AC3E}">
        <p14:creationId xmlns:p14="http://schemas.microsoft.com/office/powerpoint/2010/main" val="3919054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002851E-233A-4EA3-BE28-A9178B9491F4}" type="slidenum">
              <a:rPr lang="en-GB" smtClean="0"/>
              <a:t>2</a:t>
            </a:fld>
            <a:endParaRPr lang="en-GB"/>
          </a:p>
        </p:txBody>
      </p:sp>
    </p:spTree>
    <p:extLst>
      <p:ext uri="{BB962C8B-B14F-4D97-AF65-F5344CB8AC3E}">
        <p14:creationId xmlns:p14="http://schemas.microsoft.com/office/powerpoint/2010/main" val="3407998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281B1C-86FB-4340-A71C-B4B32E9FD381}"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a:xfrm>
            <a:off x="531812" y="4529540"/>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1543848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281B1C-86FB-4340-A71C-B4B32E9FD381}"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3889681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281B1C-86FB-4340-A71C-B4B32E9FD381}"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a:xfrm>
            <a:off x="531812" y="3244139"/>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3889372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281B1C-86FB-4340-A71C-B4B32E9FD381}" type="datetimeFigureOut">
              <a:rPr lang="en-GB" smtClean="0"/>
              <a:t>18/01/2026</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11" name="Slide Number Placeholder 5"/>
          <p:cNvSpPr>
            <a:spLocks noGrp="1"/>
          </p:cNvSpPr>
          <p:nvPr>
            <p:ph type="sldNum" sz="quarter" idx="12"/>
          </p:nvPr>
        </p:nvSpPr>
        <p:spPr>
          <a:xfrm>
            <a:off x="531812" y="787782"/>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3883372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281B1C-86FB-4340-A71C-B4B32E9FD381}" type="datetimeFigureOut">
              <a:rPr lang="en-GB" smtClean="0"/>
              <a:t>18/01/2026</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13" name="Slide Number Placeholder 5"/>
          <p:cNvSpPr>
            <a:spLocks noGrp="1"/>
          </p:cNvSpPr>
          <p:nvPr>
            <p:ph type="sldNum" sz="quarter" idx="12"/>
          </p:nvPr>
        </p:nvSpPr>
        <p:spPr>
          <a:xfrm>
            <a:off x="531812" y="787782"/>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3631661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281B1C-86FB-4340-A71C-B4B32E9FD381}" type="datetimeFigureOut">
              <a:rPr lang="en-GB" smtClean="0"/>
              <a:t>18/01/2026</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5" name="Slide Number Placeholder 4"/>
          <p:cNvSpPr>
            <a:spLocks noGrp="1"/>
          </p:cNvSpPr>
          <p:nvPr>
            <p:ph type="sldNum" sz="quarter" idx="12"/>
          </p:nvPr>
        </p:nvSpPr>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2012926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281B1C-86FB-4340-A71C-B4B32E9FD381}" type="datetimeFigureOut">
              <a:rPr lang="en-GB" smtClean="0"/>
              <a:t>18/01/2026</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4" name="Slide Number Placeholder 3"/>
          <p:cNvSpPr>
            <a:spLocks noGrp="1"/>
          </p:cNvSpPr>
          <p:nvPr>
            <p:ph type="sldNum" sz="quarter" idx="12"/>
          </p:nvPr>
        </p:nvSpPr>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528287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281B1C-86FB-4340-A71C-B4B32E9FD381}" type="datetimeFigureOut">
              <a:rPr lang="en-GB" smtClean="0"/>
              <a:t>18/01/2026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7" name="Slide Number Placeholder 6"/>
          <p:cNvSpPr>
            <a:spLocks noGrp="1"/>
          </p:cNvSpPr>
          <p:nvPr>
            <p:ph type="sldNum" sz="quarter" idx="12"/>
          </p:nvPr>
        </p:nvSpPr>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338447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281B1C-86FB-4340-A71C-B4B32E9FD381}" type="datetimeFigureOut">
              <a:rPr lang="en-GB" smtClean="0"/>
              <a:t>18/01/2026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7" name="Slide Number Placeholder 6"/>
          <p:cNvSpPr>
            <a:spLocks noGrp="1"/>
          </p:cNvSpPr>
          <p:nvPr>
            <p:ph type="sldNum" sz="quarter" idx="12"/>
          </p:nvPr>
        </p:nvSpPr>
        <p:spPr>
          <a:xfrm>
            <a:off x="531812" y="4983087"/>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166311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281B1C-86FB-4340-A71C-B4B32E9FD381}"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a:xfrm>
            <a:off x="531812" y="3244139"/>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667775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281B1C-86FB-4340-A71C-B4B32E9FD381}"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a:xfrm>
            <a:off x="531812" y="3244139"/>
            <a:ext cx="779767" cy="365125"/>
          </a:xfrm>
        </p:spPr>
        <p:txBody>
          <a:bodyPr/>
          <a:lstStyle/>
          <a:p>
            <a:fld id="{9B1CE227-379F-4AD9-B571-C2DEBECB0235}"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32155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D281B1C-86FB-4340-A71C-B4B32E9FD381}" type="datetimeFigureOut">
              <a:rPr lang="en-GB" smtClean="0"/>
              <a:t>18/01/2026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7" name="Slide Number Placeholder 6"/>
          <p:cNvSpPr>
            <a:spLocks noGrp="1"/>
          </p:cNvSpPr>
          <p:nvPr>
            <p:ph type="sldNum" sz="quarter" idx="12"/>
          </p:nvPr>
        </p:nvSpPr>
        <p:spPr>
          <a:xfrm>
            <a:off x="531812" y="4983087"/>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80467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D281B1C-86FB-4340-A71C-B4B32E9FD381}" type="datetimeFigureOut">
              <a:rPr lang="en-GB" smtClean="0"/>
              <a:t>18/01/2026</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7" name="Slide Number Placeholder 6"/>
          <p:cNvSpPr>
            <a:spLocks noGrp="1"/>
          </p:cNvSpPr>
          <p:nvPr>
            <p:ph type="sldNum" sz="quarter" idx="12"/>
          </p:nvPr>
        </p:nvSpPr>
        <p:spPr>
          <a:xfrm>
            <a:off x="531812" y="4983087"/>
            <a:ext cx="779767" cy="365125"/>
          </a:xfrm>
        </p:spPr>
        <p:txBody>
          <a:bodyPr/>
          <a:lstStyle/>
          <a:p>
            <a:fld id="{9B1CE227-379F-4AD9-B571-C2DEBECB0235}"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39728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D281B1C-86FB-4340-A71C-B4B32E9FD381}" type="datetimeFigureOut">
              <a:rPr lang="en-GB" smtClean="0"/>
              <a:t>18/01/2026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7" name="Slide Number Placeholder 6"/>
          <p:cNvSpPr>
            <a:spLocks noGrp="1"/>
          </p:cNvSpPr>
          <p:nvPr>
            <p:ph type="sldNum" sz="quarter" idx="12"/>
          </p:nvPr>
        </p:nvSpPr>
        <p:spPr>
          <a:xfrm>
            <a:off x="531812" y="4983087"/>
            <a:ext cx="779767" cy="365125"/>
          </a:xfrm>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11839111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281B1C-86FB-4340-A71C-B4B32E9FD381}"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937870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281B1C-86FB-4340-A71C-B4B32E9FD381}"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p:txBody>
          <a:bodyPr/>
          <a:lstStyle/>
          <a:p>
            <a:fld id="{9B1CE227-379F-4AD9-B571-C2DEBECB0235}" type="slidenum">
              <a:rPr lang="en-GB" smtClean="0"/>
              <a:t>‹#›</a:t>
            </a:fld>
            <a:endParaRPr lang="en-GB"/>
          </a:p>
        </p:txBody>
      </p:sp>
    </p:spTree>
    <p:extLst>
      <p:ext uri="{BB962C8B-B14F-4D97-AF65-F5344CB8AC3E}">
        <p14:creationId xmlns:p14="http://schemas.microsoft.com/office/powerpoint/2010/main" val="517893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D281B1C-86FB-4340-A71C-B4B32E9FD381}" type="datetimeFigureOut">
              <a:rPr lang="en-GB" smtClean="0"/>
              <a:t>18/01/2026</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B1CE227-379F-4AD9-B571-C2DEBECB0235}" type="slidenum">
              <a:rPr lang="en-GB" smtClean="0"/>
              <a:t>‹#›</a:t>
            </a:fld>
            <a:endParaRPr lang="en-GB"/>
          </a:p>
        </p:txBody>
      </p:sp>
    </p:spTree>
    <p:extLst>
      <p:ext uri="{BB962C8B-B14F-4D97-AF65-F5344CB8AC3E}">
        <p14:creationId xmlns:p14="http://schemas.microsoft.com/office/powerpoint/2010/main" val="467897451"/>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arthaktandulje/AgroVision-AI.git"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sarthaktandulje/Healthinfo-AI.gi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kaggle.com/datasets/sarthaktandulje/disaster-damage-5class"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mailto:sarthak.tandulje.official@gmail.com"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DD7E-EAE0-7466-314C-0B20ADD734FC}"/>
              </a:ext>
            </a:extLst>
          </p:cNvPr>
          <p:cNvSpPr>
            <a:spLocks noGrp="1"/>
          </p:cNvSpPr>
          <p:nvPr>
            <p:ph type="ctrTitle"/>
          </p:nvPr>
        </p:nvSpPr>
        <p:spPr>
          <a:xfrm>
            <a:off x="950475" y="324678"/>
            <a:ext cx="7766936" cy="1219200"/>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sz="9600" b="1" u="sng" dirty="0">
                <a:latin typeface="Arial Rounded MT Bold" panose="020F0704030504030204" pitchFamily="34" charset="0"/>
              </a:rPr>
              <a:t>PROJECTS</a:t>
            </a:r>
            <a:r>
              <a:rPr lang="en-US" sz="9600" b="1" dirty="0"/>
              <a:t> </a:t>
            </a:r>
            <a:endParaRPr lang="en-GB" sz="9600" b="1" dirty="0"/>
          </a:p>
        </p:txBody>
      </p:sp>
      <p:sp>
        <p:nvSpPr>
          <p:cNvPr id="3" name="Subtitle 2">
            <a:extLst>
              <a:ext uri="{FF2B5EF4-FFF2-40B4-BE49-F238E27FC236}">
                <a16:creationId xmlns:a16="http://schemas.microsoft.com/office/drawing/2014/main" id="{BBB5C400-FBFC-195D-113C-64056E09E71B}"/>
              </a:ext>
            </a:extLst>
          </p:cNvPr>
          <p:cNvSpPr>
            <a:spLocks noGrp="1"/>
          </p:cNvSpPr>
          <p:nvPr>
            <p:ph type="subTitle" idx="1"/>
          </p:nvPr>
        </p:nvSpPr>
        <p:spPr>
          <a:xfrm>
            <a:off x="1550504" y="1696278"/>
            <a:ext cx="10495722" cy="4837044"/>
          </a:xfrm>
        </p:spPr>
        <p:txBody>
          <a:bodyPr>
            <a:normAutofit/>
          </a:bodyPr>
          <a:lstStyle/>
          <a:p>
            <a:pPr marL="457200" indent="-457200" algn="ctr">
              <a:buFont typeface="Wingdings" panose="05000000000000000000" pitchFamily="2" charset="2"/>
              <a:buChar char="v"/>
            </a:pPr>
            <a:r>
              <a:rPr lang="en-US" sz="2800" dirty="0"/>
              <a:t>This is a description presentation for the projects created by </a:t>
            </a:r>
            <a:r>
              <a:rPr lang="en-US" sz="2800" b="1" u="sng" dirty="0"/>
              <a:t>SARTHAK TANDULJE</a:t>
            </a:r>
            <a:r>
              <a:rPr lang="en-US" sz="2800" dirty="0"/>
              <a:t>. This mainly includes 3 projects :-</a:t>
            </a:r>
            <a:r>
              <a:rPr lang="en-GB" sz="2800" dirty="0"/>
              <a:t> </a:t>
            </a:r>
          </a:p>
          <a:p>
            <a:pPr marL="571500" indent="-571500" algn="ctr">
              <a:buSzPct val="100000"/>
              <a:buFont typeface="+mj-lt"/>
              <a:buAutoNum type="romanUcPeriod"/>
            </a:pPr>
            <a:r>
              <a:rPr lang="en-GB" sz="2800" dirty="0"/>
              <a:t>      </a:t>
            </a:r>
            <a:r>
              <a:rPr lang="en-GB" sz="2800" b="1" u="sng" dirty="0" err="1"/>
              <a:t>AgroVision</a:t>
            </a:r>
            <a:r>
              <a:rPr lang="en-GB" sz="2800" b="1" u="sng" dirty="0"/>
              <a:t>-AI</a:t>
            </a:r>
          </a:p>
          <a:p>
            <a:pPr marL="571500" indent="-571500" algn="ctr">
              <a:buSzPct val="100000"/>
              <a:buFont typeface="+mj-lt"/>
              <a:buAutoNum type="romanUcPeriod"/>
            </a:pPr>
            <a:r>
              <a:rPr lang="en-GB" sz="2800" dirty="0"/>
              <a:t>       </a:t>
            </a:r>
            <a:r>
              <a:rPr lang="en-GB" sz="2800" b="1" u="sng" dirty="0" err="1"/>
              <a:t>Healthinfo</a:t>
            </a:r>
            <a:r>
              <a:rPr lang="en-GB" sz="2800" b="1" u="sng" dirty="0"/>
              <a:t>-AI  </a:t>
            </a:r>
          </a:p>
          <a:p>
            <a:pPr marL="571500" indent="-571500" algn="ctr">
              <a:buSzPct val="100000"/>
              <a:buFont typeface="+mj-lt"/>
              <a:buAutoNum type="romanUcPeriod"/>
            </a:pPr>
            <a:r>
              <a:rPr lang="en-GB" sz="2800" b="1" dirty="0"/>
              <a:t>  </a:t>
            </a:r>
            <a:r>
              <a:rPr lang="en-GB" sz="2800" b="1" u="sng" dirty="0"/>
              <a:t>Disaster Dataset</a:t>
            </a:r>
          </a:p>
          <a:p>
            <a:pPr>
              <a:buClr>
                <a:srgbClr val="00B0F0"/>
              </a:buClr>
            </a:pPr>
            <a:r>
              <a:rPr lang="en-GB" sz="2800" dirty="0"/>
              <a:t>In the following slides, all the information related to the projects mentioned above is provided and the way to run the projects locally or where to visit the projects is given as   well.       </a:t>
            </a:r>
          </a:p>
          <a:p>
            <a:pPr marL="342900" indent="-342900" algn="ctr">
              <a:buClr>
                <a:srgbClr val="00B0F0"/>
              </a:buClr>
              <a:buFont typeface="Wingdings" panose="05000000000000000000" pitchFamily="2" charset="2"/>
              <a:buChar char="q"/>
            </a:pPr>
            <a:endParaRPr lang="en-GB" sz="2800" dirty="0"/>
          </a:p>
          <a:p>
            <a:pPr marL="342900" indent="-342900" algn="ctr">
              <a:buClr>
                <a:srgbClr val="00B0F0"/>
              </a:buClr>
              <a:buFont typeface="Wingdings" panose="05000000000000000000" pitchFamily="2" charset="2"/>
              <a:buChar char="q"/>
            </a:pPr>
            <a:endParaRPr lang="en-GB" sz="2400" dirty="0"/>
          </a:p>
        </p:txBody>
      </p:sp>
    </p:spTree>
    <p:extLst>
      <p:ext uri="{BB962C8B-B14F-4D97-AF65-F5344CB8AC3E}">
        <p14:creationId xmlns:p14="http://schemas.microsoft.com/office/powerpoint/2010/main" val="1361908217"/>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E0D6-FC8F-339B-EAA4-12BE942000D7}"/>
              </a:ext>
            </a:extLst>
          </p:cNvPr>
          <p:cNvSpPr>
            <a:spLocks noGrp="1"/>
          </p:cNvSpPr>
          <p:nvPr>
            <p:ph type="title"/>
          </p:nvPr>
        </p:nvSpPr>
        <p:spPr>
          <a:xfrm>
            <a:off x="1532623" y="86624"/>
            <a:ext cx="8596668" cy="1320800"/>
          </a:xfrm>
        </p:spPr>
        <p:txBody>
          <a:bodyPr>
            <a:noAutofit/>
          </a:bodyPr>
          <a:lstStyle/>
          <a:p>
            <a:r>
              <a:rPr lang="en-US" sz="8800" b="1" u="sng" dirty="0" err="1"/>
              <a:t>AgroVision</a:t>
            </a:r>
            <a:r>
              <a:rPr lang="en-US" sz="8800" b="1" u="sng" dirty="0"/>
              <a:t>-AI</a:t>
            </a:r>
            <a:endParaRPr lang="en-GB" sz="8800" b="1" u="sng" dirty="0"/>
          </a:p>
        </p:txBody>
      </p:sp>
      <p:sp>
        <p:nvSpPr>
          <p:cNvPr id="3" name="Content Placeholder 2">
            <a:extLst>
              <a:ext uri="{FF2B5EF4-FFF2-40B4-BE49-F238E27FC236}">
                <a16:creationId xmlns:a16="http://schemas.microsoft.com/office/drawing/2014/main" id="{21F5ADF7-5D44-C3F6-A160-692B260E1F13}"/>
              </a:ext>
            </a:extLst>
          </p:cNvPr>
          <p:cNvSpPr>
            <a:spLocks noGrp="1"/>
          </p:cNvSpPr>
          <p:nvPr>
            <p:ph idx="1"/>
          </p:nvPr>
        </p:nvSpPr>
        <p:spPr>
          <a:xfrm>
            <a:off x="463826" y="1597372"/>
            <a:ext cx="11728173" cy="5373272"/>
          </a:xfrm>
        </p:spPr>
        <p:txBody>
          <a:bodyPr>
            <a:normAutofit/>
          </a:bodyPr>
          <a:lstStyle/>
          <a:p>
            <a:pPr>
              <a:buSzPct val="100000"/>
              <a:buFont typeface="Wingdings" panose="05000000000000000000" pitchFamily="2" charset="2"/>
              <a:buChar char="q"/>
            </a:pPr>
            <a:r>
              <a:rPr lang="en-US" sz="2400" b="1" dirty="0"/>
              <a:t>AgroVision-AI</a:t>
            </a:r>
            <a:r>
              <a:rPr lang="en-US" sz="2400" dirty="0"/>
              <a:t> is a smart AI </a:t>
            </a:r>
            <a:r>
              <a:rPr lang="en-US" sz="2400" b="1" dirty="0"/>
              <a:t>diagnosis model</a:t>
            </a:r>
            <a:r>
              <a:rPr lang="en-US" sz="2400" dirty="0"/>
              <a:t> which tells us about the disease a </a:t>
            </a:r>
            <a:r>
              <a:rPr lang="en-US" sz="2400" b="1" u="sng" dirty="0"/>
              <a:t>tomato leaf </a:t>
            </a:r>
            <a:r>
              <a:rPr lang="en-US" sz="2400" dirty="0"/>
              <a:t>is suffering from and also tell us its </a:t>
            </a:r>
            <a:r>
              <a:rPr lang="en-US" sz="2400" b="1" dirty="0"/>
              <a:t>preventive measures </a:t>
            </a:r>
            <a:r>
              <a:rPr lang="en-US" sz="2400" dirty="0"/>
              <a:t>with just a photo of it!</a:t>
            </a:r>
          </a:p>
          <a:p>
            <a:pPr>
              <a:buSzPct val="100000"/>
              <a:buFont typeface="Wingdings" panose="05000000000000000000" pitchFamily="2" charset="2"/>
              <a:buChar char="q"/>
            </a:pPr>
            <a:r>
              <a:rPr lang="en-US" sz="2400" dirty="0"/>
              <a:t>The project currently focuses on </a:t>
            </a:r>
            <a:r>
              <a:rPr lang="en-US" sz="2400" b="1" dirty="0"/>
              <a:t>tomato leaf diseases </a:t>
            </a:r>
            <a:r>
              <a:rPr lang="en-US" sz="2400" dirty="0"/>
              <a:t>to ensure </a:t>
            </a:r>
            <a:r>
              <a:rPr lang="en-US" sz="2400" b="1" dirty="0"/>
              <a:t>high accuracy, </a:t>
            </a:r>
            <a:r>
              <a:rPr lang="en-US" sz="2400" dirty="0"/>
              <a:t>with scope for extension to multiple crops in future.</a:t>
            </a:r>
          </a:p>
          <a:p>
            <a:pPr>
              <a:buSzPct val="100000"/>
              <a:buFont typeface="Wingdings" panose="05000000000000000000" pitchFamily="2" charset="2"/>
              <a:buChar char="q"/>
            </a:pPr>
            <a:r>
              <a:rPr lang="en-US" sz="2400" dirty="0"/>
              <a:t>There are a lot of farmers unaware of such diseases which results in </a:t>
            </a:r>
            <a:r>
              <a:rPr lang="en-US" sz="2400" b="1" dirty="0"/>
              <a:t>bad harvest</a:t>
            </a:r>
            <a:r>
              <a:rPr lang="en-US" sz="2400" dirty="0"/>
              <a:t>, this AI tool is created to solve that problem from its root.  </a:t>
            </a:r>
          </a:p>
          <a:p>
            <a:pPr>
              <a:buSzPct val="100000"/>
              <a:buFont typeface="Wingdings" panose="05000000000000000000" pitchFamily="2" charset="2"/>
              <a:buChar char="q"/>
            </a:pPr>
            <a:r>
              <a:rPr lang="en-US" sz="2400" dirty="0"/>
              <a:t> The model was trained on a plant village dataset available on Kaggle which have more than </a:t>
            </a:r>
            <a:r>
              <a:rPr lang="en-US" sz="2400" b="1" dirty="0"/>
              <a:t>10 thousand images across 9 class</a:t>
            </a:r>
            <a:r>
              <a:rPr lang="en-US" sz="2400" dirty="0"/>
              <a:t>.</a:t>
            </a:r>
          </a:p>
          <a:p>
            <a:pPr>
              <a:buSzPct val="100000"/>
              <a:buFont typeface="Wingdings" panose="05000000000000000000" pitchFamily="2" charset="2"/>
              <a:buChar char="q"/>
            </a:pPr>
            <a:r>
              <a:rPr lang="en-US" sz="2400" b="1" u="sng" dirty="0" err="1"/>
              <a:t>AgroVision</a:t>
            </a:r>
            <a:r>
              <a:rPr lang="en-US" sz="2400" b="1" u="sng" dirty="0"/>
              <a:t>-AI is for project work ONLY and not to replace the government provided AI diagnosis tools for Agriculture.</a:t>
            </a:r>
          </a:p>
          <a:p>
            <a:pPr>
              <a:buSzPct val="100000"/>
              <a:buFont typeface="Wingdings" panose="05000000000000000000" pitchFamily="2" charset="2"/>
              <a:buChar char="q"/>
            </a:pPr>
            <a:endParaRPr lang="en-US" sz="2400" b="1" u="sng" dirty="0"/>
          </a:p>
        </p:txBody>
      </p:sp>
    </p:spTree>
    <p:extLst>
      <p:ext uri="{BB962C8B-B14F-4D97-AF65-F5344CB8AC3E}">
        <p14:creationId xmlns:p14="http://schemas.microsoft.com/office/powerpoint/2010/main" val="51868403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7BC38FE-018D-3AC9-663B-D0C5CEDBA37A}"/>
              </a:ext>
            </a:extLst>
          </p:cNvPr>
          <p:cNvSpPr txBox="1"/>
          <p:nvPr/>
        </p:nvSpPr>
        <p:spPr>
          <a:xfrm>
            <a:off x="212034" y="1164134"/>
            <a:ext cx="11979966" cy="5693866"/>
          </a:xfrm>
          <a:prstGeom prst="rect">
            <a:avLst/>
          </a:prstGeom>
          <a:noFill/>
        </p:spPr>
        <p:txBody>
          <a:bodyPr wrap="square" rtlCol="0">
            <a:spAutoFit/>
          </a:bodyPr>
          <a:lstStyle/>
          <a:p>
            <a:pPr marL="342900" indent="-342900">
              <a:buClr>
                <a:schemeClr val="accent1"/>
              </a:buClr>
              <a:buFont typeface="Wingdings" panose="05000000000000000000" pitchFamily="2" charset="2"/>
              <a:buChar char="q"/>
            </a:pPr>
            <a:r>
              <a:rPr lang="en-US" sz="2400" dirty="0"/>
              <a:t>We use a confidence gap heuristic to detect ambiguous predictions. </a:t>
            </a:r>
          </a:p>
          <a:p>
            <a:pPr marL="342900" indent="-342900">
              <a:buClr>
                <a:schemeClr val="accent1"/>
              </a:buClr>
              <a:buFont typeface="Wingdings" panose="05000000000000000000" pitchFamily="2" charset="2"/>
              <a:buChar char="q"/>
            </a:pPr>
            <a:r>
              <a:rPr lang="en-US" sz="2400" dirty="0" err="1"/>
              <a:t>AgroVision</a:t>
            </a:r>
            <a:r>
              <a:rPr lang="en-US" sz="2400" dirty="0"/>
              <a:t>-AI have achieved the accuracy of </a:t>
            </a:r>
            <a:r>
              <a:rPr lang="en-US" sz="2800" b="1" u="sng" dirty="0"/>
              <a:t>94.97% </a:t>
            </a:r>
            <a:r>
              <a:rPr lang="en-US" sz="2400" dirty="0"/>
              <a:t>without </a:t>
            </a:r>
            <a:r>
              <a:rPr lang="en-US" sz="2400" dirty="0" err="1"/>
              <a:t>softmax’s</a:t>
            </a:r>
            <a:r>
              <a:rPr lang="en-US" sz="2400" dirty="0"/>
              <a:t> overconfidence.</a:t>
            </a:r>
          </a:p>
          <a:p>
            <a:pPr marL="342900" indent="-342900">
              <a:buClr>
                <a:schemeClr val="accent1"/>
              </a:buClr>
              <a:buFont typeface="Wingdings" panose="05000000000000000000" pitchFamily="2" charset="2"/>
              <a:buChar char="q"/>
            </a:pPr>
            <a:r>
              <a:rPr lang="en-US" sz="2400" dirty="0"/>
              <a:t>Out-of-distribution images are filtered using confidence thresholding. Confidence is calibrated to </a:t>
            </a:r>
            <a:r>
              <a:rPr lang="en-US" sz="2400" b="1" dirty="0"/>
              <a:t>avoid </a:t>
            </a:r>
            <a:r>
              <a:rPr lang="en-US" sz="2400" b="1" dirty="0" err="1"/>
              <a:t>softmax</a:t>
            </a:r>
            <a:r>
              <a:rPr lang="en-US" sz="2400" b="1" dirty="0"/>
              <a:t> </a:t>
            </a:r>
            <a:r>
              <a:rPr lang="en-US" sz="2400" dirty="0"/>
              <a:t>overconfidence.</a:t>
            </a:r>
          </a:p>
          <a:p>
            <a:pPr marL="342900" indent="-342900">
              <a:buClr>
                <a:schemeClr val="accent1"/>
              </a:buClr>
              <a:buFont typeface="Wingdings" panose="05000000000000000000" pitchFamily="2" charset="2"/>
              <a:buChar char="q"/>
            </a:pPr>
            <a:r>
              <a:rPr lang="en-US" sz="2400" dirty="0"/>
              <a:t>The model used is </a:t>
            </a:r>
            <a:r>
              <a:rPr lang="en-US" sz="2400" b="1" dirty="0"/>
              <a:t>Mobile-NetV2; </a:t>
            </a:r>
            <a:r>
              <a:rPr lang="en-US" sz="2400" dirty="0"/>
              <a:t>which was chosen because it is considered to be one of the best when it comes to the ease for the training of a model at a small scale and efficient at the same time.</a:t>
            </a:r>
          </a:p>
          <a:p>
            <a:pPr marL="342900" indent="-342900">
              <a:buClr>
                <a:schemeClr val="accent1"/>
              </a:buClr>
              <a:buFont typeface="Wingdings" panose="05000000000000000000" pitchFamily="2" charset="2"/>
              <a:buChar char="q"/>
            </a:pPr>
            <a:r>
              <a:rPr lang="en-US" sz="2400" dirty="0"/>
              <a:t>The frontend is made by using </a:t>
            </a:r>
            <a:r>
              <a:rPr lang="en-US" sz="2400" b="1" dirty="0"/>
              <a:t>HTML, Java-Script, CSS </a:t>
            </a:r>
            <a:r>
              <a:rPr lang="en-US" sz="2400" dirty="0"/>
              <a:t>while the backend is integrated with </a:t>
            </a:r>
            <a:r>
              <a:rPr lang="en-US" sz="2400" b="1" dirty="0"/>
              <a:t>Flask and TensorFlow</a:t>
            </a:r>
            <a:r>
              <a:rPr lang="en-US" sz="2400" dirty="0"/>
              <a:t>.</a:t>
            </a:r>
          </a:p>
          <a:p>
            <a:pPr marL="342900" indent="-342900">
              <a:buClr>
                <a:schemeClr val="accent1"/>
              </a:buClr>
              <a:buFont typeface="Wingdings" panose="05000000000000000000" pitchFamily="2" charset="2"/>
              <a:buChar char="q"/>
            </a:pPr>
            <a:r>
              <a:rPr lang="en-US" sz="2400" dirty="0"/>
              <a:t>Current model is limited to a specific dataset and Future work includes expanding crop variety / diseases.</a:t>
            </a:r>
          </a:p>
          <a:p>
            <a:pPr marL="342900" indent="-342900">
              <a:buClr>
                <a:schemeClr val="accent1"/>
              </a:buClr>
              <a:buFont typeface="Wingdings" panose="05000000000000000000" pitchFamily="2" charset="2"/>
              <a:buChar char="q"/>
            </a:pPr>
            <a:r>
              <a:rPr lang="en-US" sz="2400" dirty="0"/>
              <a:t>To run this locally you can visit my Git account’s repository: </a:t>
            </a:r>
            <a:r>
              <a:rPr lang="en-US" sz="2400" b="1" dirty="0">
                <a:hlinkClick r:id="rId2"/>
              </a:rPr>
              <a:t>https://github.com/sarthaktandulje/AgroVision-AI.git</a:t>
            </a:r>
            <a:r>
              <a:rPr lang="en-US" sz="2400" b="1" dirty="0"/>
              <a:t> </a:t>
            </a:r>
            <a:r>
              <a:rPr lang="en-US" sz="2400" dirty="0"/>
              <a:t>; clone it and the project can be executed locally using a </a:t>
            </a:r>
            <a:r>
              <a:rPr lang="en-US" sz="2400" b="1" dirty="0"/>
              <a:t>Flask-based inference pipeline.</a:t>
            </a:r>
            <a:endParaRPr lang="en-GB" sz="2400" b="1" dirty="0"/>
          </a:p>
        </p:txBody>
      </p:sp>
    </p:spTree>
    <p:extLst>
      <p:ext uri="{BB962C8B-B14F-4D97-AF65-F5344CB8AC3E}">
        <p14:creationId xmlns:p14="http://schemas.microsoft.com/office/powerpoint/2010/main" val="3975513854"/>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2A91D-AA2A-C6E7-C4A9-B4EBC272346A}"/>
              </a:ext>
            </a:extLst>
          </p:cNvPr>
          <p:cNvSpPr>
            <a:spLocks noGrp="1"/>
          </p:cNvSpPr>
          <p:nvPr>
            <p:ph type="title"/>
          </p:nvPr>
        </p:nvSpPr>
        <p:spPr>
          <a:xfrm>
            <a:off x="1987826" y="384313"/>
            <a:ext cx="8596668" cy="1320800"/>
          </a:xfrm>
        </p:spPr>
        <p:txBody>
          <a:bodyPr/>
          <a:lstStyle/>
          <a:p>
            <a:r>
              <a:rPr lang="en-US" b="1" u="sng" dirty="0">
                <a:solidFill>
                  <a:schemeClr val="tx1"/>
                </a:solidFill>
              </a:rPr>
              <a:t>Here are some photos of the actual web interface of </a:t>
            </a:r>
            <a:r>
              <a:rPr lang="en-US" b="1" u="sng" dirty="0" err="1">
                <a:solidFill>
                  <a:schemeClr val="tx1"/>
                </a:solidFill>
              </a:rPr>
              <a:t>AgroVision</a:t>
            </a:r>
            <a:r>
              <a:rPr lang="en-US" b="1" u="sng" dirty="0">
                <a:solidFill>
                  <a:schemeClr val="tx1"/>
                </a:solidFill>
              </a:rPr>
              <a:t>-AI </a:t>
            </a:r>
            <a:r>
              <a:rPr lang="en-US" u="sng" dirty="0">
                <a:solidFill>
                  <a:schemeClr val="accent3"/>
                </a:solidFill>
              </a:rPr>
              <a:t>:</a:t>
            </a:r>
            <a:endParaRPr lang="en-GB" dirty="0"/>
          </a:p>
        </p:txBody>
      </p:sp>
      <p:sp>
        <p:nvSpPr>
          <p:cNvPr id="3" name="TextBox 2">
            <a:extLst>
              <a:ext uri="{FF2B5EF4-FFF2-40B4-BE49-F238E27FC236}">
                <a16:creationId xmlns:a16="http://schemas.microsoft.com/office/drawing/2014/main" id="{D0875314-6191-0D89-3364-3383C18FCD62}"/>
              </a:ext>
            </a:extLst>
          </p:cNvPr>
          <p:cNvSpPr txBox="1"/>
          <p:nvPr/>
        </p:nvSpPr>
        <p:spPr>
          <a:xfrm>
            <a:off x="2680252" y="5593042"/>
            <a:ext cx="2292628" cy="400110"/>
          </a:xfrm>
          <a:prstGeom prst="rect">
            <a:avLst/>
          </a:prstGeom>
          <a:noFill/>
        </p:spPr>
        <p:txBody>
          <a:bodyPr wrap="square" rtlCol="0">
            <a:spAutoFit/>
          </a:bodyPr>
          <a:lstStyle/>
          <a:p>
            <a:r>
              <a:rPr lang="en-US" sz="2000" b="1" u="sng" dirty="0"/>
              <a:t>Starting Interface</a:t>
            </a:r>
            <a:endParaRPr lang="en-GB" sz="2000" b="1" u="sng" dirty="0"/>
          </a:p>
        </p:txBody>
      </p:sp>
      <p:sp>
        <p:nvSpPr>
          <p:cNvPr id="5" name="TextBox 4">
            <a:extLst>
              <a:ext uri="{FF2B5EF4-FFF2-40B4-BE49-F238E27FC236}">
                <a16:creationId xmlns:a16="http://schemas.microsoft.com/office/drawing/2014/main" id="{31F48383-F838-C983-F483-12C60FEE5792}"/>
              </a:ext>
            </a:extLst>
          </p:cNvPr>
          <p:cNvSpPr txBox="1"/>
          <p:nvPr/>
        </p:nvSpPr>
        <p:spPr>
          <a:xfrm>
            <a:off x="8282609" y="5593042"/>
            <a:ext cx="3127513" cy="400110"/>
          </a:xfrm>
          <a:prstGeom prst="rect">
            <a:avLst/>
          </a:prstGeom>
          <a:noFill/>
        </p:spPr>
        <p:txBody>
          <a:bodyPr wrap="square" rtlCol="0">
            <a:spAutoFit/>
          </a:bodyPr>
          <a:lstStyle/>
          <a:p>
            <a:r>
              <a:rPr lang="en-US" sz="2000" b="1" u="sng" dirty="0"/>
              <a:t>Result interface</a:t>
            </a:r>
            <a:endParaRPr lang="en-GB" sz="2000" b="1" u="sng" dirty="0"/>
          </a:p>
        </p:txBody>
      </p:sp>
      <p:pic>
        <p:nvPicPr>
          <p:cNvPr id="8" name="Picture 7">
            <a:extLst>
              <a:ext uri="{FF2B5EF4-FFF2-40B4-BE49-F238E27FC236}">
                <a16:creationId xmlns:a16="http://schemas.microsoft.com/office/drawing/2014/main" id="{112A2764-D9B3-2EF1-1A44-D85115F617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1723" y="2773087"/>
            <a:ext cx="4949687" cy="2819955"/>
          </a:xfrm>
          <a:prstGeom prst="rect">
            <a:avLst/>
          </a:prstGeom>
        </p:spPr>
      </p:pic>
      <p:pic>
        <p:nvPicPr>
          <p:cNvPr id="10" name="Picture 9">
            <a:extLst>
              <a:ext uri="{FF2B5EF4-FFF2-40B4-BE49-F238E27FC236}">
                <a16:creationId xmlns:a16="http://schemas.microsoft.com/office/drawing/2014/main" id="{A2369790-7BA2-D97E-C05B-6780F0B1B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2593" y="2773087"/>
            <a:ext cx="4949687" cy="2819955"/>
          </a:xfrm>
          <a:prstGeom prst="rect">
            <a:avLst/>
          </a:prstGeom>
        </p:spPr>
      </p:pic>
    </p:spTree>
    <p:extLst>
      <p:ext uri="{BB962C8B-B14F-4D97-AF65-F5344CB8AC3E}">
        <p14:creationId xmlns:p14="http://schemas.microsoft.com/office/powerpoint/2010/main" val="2603742660"/>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9FBC1-1C7D-9810-166E-57E98EF269CD}"/>
              </a:ext>
            </a:extLst>
          </p:cNvPr>
          <p:cNvSpPr>
            <a:spLocks noGrp="1"/>
          </p:cNvSpPr>
          <p:nvPr>
            <p:ph type="title"/>
          </p:nvPr>
        </p:nvSpPr>
        <p:spPr>
          <a:xfrm>
            <a:off x="1797666" y="0"/>
            <a:ext cx="8596668" cy="1320800"/>
          </a:xfrm>
        </p:spPr>
        <p:txBody>
          <a:bodyPr>
            <a:noAutofit/>
          </a:bodyPr>
          <a:lstStyle/>
          <a:p>
            <a:r>
              <a:rPr lang="en-US" sz="8800" b="1" u="sng" dirty="0" err="1"/>
              <a:t>Healthinfo</a:t>
            </a:r>
            <a:r>
              <a:rPr lang="en-US" sz="8800" b="1" u="sng" dirty="0"/>
              <a:t>-AI</a:t>
            </a:r>
            <a:endParaRPr lang="en-GB" sz="8800" b="1" u="sng" dirty="0"/>
          </a:p>
        </p:txBody>
      </p:sp>
      <p:sp>
        <p:nvSpPr>
          <p:cNvPr id="3" name="Content Placeholder 2">
            <a:extLst>
              <a:ext uri="{FF2B5EF4-FFF2-40B4-BE49-F238E27FC236}">
                <a16:creationId xmlns:a16="http://schemas.microsoft.com/office/drawing/2014/main" id="{40FAE1D3-3EED-1A16-E1C5-286AE0F60116}"/>
              </a:ext>
            </a:extLst>
          </p:cNvPr>
          <p:cNvSpPr>
            <a:spLocks noGrp="1"/>
          </p:cNvSpPr>
          <p:nvPr>
            <p:ph idx="1"/>
          </p:nvPr>
        </p:nvSpPr>
        <p:spPr>
          <a:xfrm>
            <a:off x="371061" y="1490290"/>
            <a:ext cx="11728174" cy="5367710"/>
          </a:xfrm>
        </p:spPr>
        <p:txBody>
          <a:bodyPr>
            <a:normAutofit fontScale="85000" lnSpcReduction="10000"/>
          </a:bodyPr>
          <a:lstStyle/>
          <a:p>
            <a:pPr>
              <a:buSzPct val="100000"/>
              <a:buFont typeface="Wingdings" panose="05000000000000000000" pitchFamily="2" charset="2"/>
              <a:buChar char="q"/>
            </a:pPr>
            <a:r>
              <a:rPr lang="en-US" sz="2600" dirty="0"/>
              <a:t>Healthinfo-AI is a smart AI health diagnosis tool which mainly have </a:t>
            </a:r>
            <a:r>
              <a:rPr lang="en-US" sz="2600" b="1" dirty="0"/>
              <a:t>2 AI model </a:t>
            </a:r>
            <a:r>
              <a:rPr lang="en-US" sz="2600" dirty="0"/>
              <a:t>within. One of those takes the </a:t>
            </a:r>
            <a:r>
              <a:rPr lang="en-US" sz="2600" b="1" dirty="0"/>
              <a:t>Xray images </a:t>
            </a:r>
            <a:r>
              <a:rPr lang="en-US" sz="2600" dirty="0"/>
              <a:t>of chest as input and tells us that if the patient is suffering from pneumonia whereas the other model takes images of the </a:t>
            </a:r>
            <a:r>
              <a:rPr lang="en-US" sz="2600" b="1" dirty="0"/>
              <a:t>skin infection </a:t>
            </a:r>
            <a:r>
              <a:rPr lang="en-US" sz="2600" dirty="0"/>
              <a:t>part as its input and tell us what kind of disease is it and what should be our next steps for its cure or treatment or if needed visit a doctor.</a:t>
            </a:r>
          </a:p>
          <a:p>
            <a:pPr>
              <a:buSzPct val="100000"/>
              <a:buFont typeface="Wingdings" panose="05000000000000000000" pitchFamily="2" charset="2"/>
              <a:buChar char="q"/>
            </a:pPr>
            <a:r>
              <a:rPr lang="en-US" sz="2600" dirty="0"/>
              <a:t>This system is </a:t>
            </a:r>
            <a:r>
              <a:rPr lang="en-US" sz="2600" b="1" dirty="0"/>
              <a:t>strictly</a:t>
            </a:r>
            <a:r>
              <a:rPr lang="en-US" sz="2600" dirty="0"/>
              <a:t> intended as a </a:t>
            </a:r>
            <a:r>
              <a:rPr lang="en-US" sz="2600" b="1" u="sng" dirty="0"/>
              <a:t>decision-support tool only </a:t>
            </a:r>
            <a:r>
              <a:rPr lang="en-US" sz="3000" dirty="0"/>
              <a:t>and </a:t>
            </a:r>
            <a:r>
              <a:rPr lang="en-US" sz="3300" b="1" u="sng" dirty="0"/>
              <a:t>not a replacement for professional medical diagnosis tools and doctors</a:t>
            </a:r>
            <a:r>
              <a:rPr lang="en-US" sz="3000" dirty="0"/>
              <a:t>.</a:t>
            </a:r>
          </a:p>
          <a:p>
            <a:pPr>
              <a:buSzPct val="100000"/>
              <a:buFont typeface="Wingdings" panose="05000000000000000000" pitchFamily="2" charset="2"/>
              <a:buChar char="q"/>
            </a:pPr>
            <a:r>
              <a:rPr lang="en-US" sz="2600" dirty="0"/>
              <a:t>The models were trained on </a:t>
            </a:r>
            <a:r>
              <a:rPr lang="en-GB" sz="2600" dirty="0"/>
              <a:t>“publicly available dermatology image datasets from Kaggle </a:t>
            </a:r>
            <a:r>
              <a:rPr lang="en-US" sz="2600" dirty="0"/>
              <a:t>with more than </a:t>
            </a:r>
            <a:r>
              <a:rPr lang="en-US" sz="2600" b="1" dirty="0"/>
              <a:t>20000 images </a:t>
            </a:r>
            <a:r>
              <a:rPr lang="en-US" sz="2600" dirty="0"/>
              <a:t>while the skin dataset have about 6 classes.</a:t>
            </a:r>
            <a:endParaRPr lang="en-US" sz="2600" b="1" dirty="0"/>
          </a:p>
          <a:p>
            <a:pPr>
              <a:buSzPct val="100000"/>
              <a:buFont typeface="Wingdings" panose="05000000000000000000" pitchFamily="2" charset="2"/>
              <a:buChar char="q"/>
            </a:pPr>
            <a:r>
              <a:rPr lang="en-US" sz="2600" dirty="0"/>
              <a:t>A rejection mechanism prevents misuse and unsafe predictions. Future work includes visual explainability using Grad-CAM.</a:t>
            </a:r>
          </a:p>
          <a:p>
            <a:pPr>
              <a:buSzPct val="100000"/>
              <a:buFont typeface="Wingdings" panose="05000000000000000000" pitchFamily="2" charset="2"/>
              <a:buChar char="q"/>
            </a:pPr>
            <a:r>
              <a:rPr lang="en-US" sz="2600" dirty="0"/>
              <a:t>Binary probability is converted into confidence using distance from decision boundary.</a:t>
            </a:r>
            <a:endParaRPr lang="en-GB" sz="2600" dirty="0"/>
          </a:p>
          <a:p>
            <a:pPr>
              <a:buSzPct val="100000"/>
              <a:buFont typeface="Wingdings" panose="05000000000000000000" pitchFamily="2" charset="2"/>
              <a:buChar char="q"/>
            </a:pPr>
            <a:endParaRPr lang="en-US" sz="2400" dirty="0"/>
          </a:p>
          <a:p>
            <a:pPr>
              <a:buSzPct val="100000"/>
              <a:buFont typeface="Wingdings" panose="05000000000000000000" pitchFamily="2" charset="2"/>
              <a:buChar char="q"/>
            </a:pPr>
            <a:endParaRPr lang="en-US" sz="2400" dirty="0"/>
          </a:p>
          <a:p>
            <a:pPr>
              <a:buSzPct val="100000"/>
              <a:buFont typeface="Wingdings" panose="05000000000000000000" pitchFamily="2" charset="2"/>
              <a:buChar char="q"/>
            </a:pPr>
            <a:endParaRPr lang="en-GB" sz="2400" dirty="0"/>
          </a:p>
        </p:txBody>
      </p:sp>
    </p:spTree>
    <p:extLst>
      <p:ext uri="{BB962C8B-B14F-4D97-AF65-F5344CB8AC3E}">
        <p14:creationId xmlns:p14="http://schemas.microsoft.com/office/powerpoint/2010/main" val="2115087633"/>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D800D-CA0F-90BF-A048-CF69F27FE50E}"/>
              </a:ext>
            </a:extLst>
          </p:cNvPr>
          <p:cNvSpPr>
            <a:spLocks noGrp="1"/>
          </p:cNvSpPr>
          <p:nvPr>
            <p:ph type="title"/>
          </p:nvPr>
        </p:nvSpPr>
        <p:spPr>
          <a:xfrm flipH="1">
            <a:off x="-4280452" y="1550504"/>
            <a:ext cx="2810934" cy="490815"/>
          </a:xfrm>
        </p:spPr>
        <p:txBody>
          <a:bodyPr>
            <a:normAutofit fontScale="90000"/>
          </a:bodyPr>
          <a:lstStyle/>
          <a:p>
            <a:r>
              <a:rPr lang="en-US" dirty="0"/>
              <a:t>.</a:t>
            </a:r>
            <a:br>
              <a:rPr lang="en-US" dirty="0"/>
            </a:br>
            <a:endParaRPr lang="en-GB" dirty="0"/>
          </a:p>
        </p:txBody>
      </p:sp>
      <p:sp>
        <p:nvSpPr>
          <p:cNvPr id="3" name="Content Placeholder 2">
            <a:extLst>
              <a:ext uri="{FF2B5EF4-FFF2-40B4-BE49-F238E27FC236}">
                <a16:creationId xmlns:a16="http://schemas.microsoft.com/office/drawing/2014/main" id="{D274C77C-17B0-45E4-642B-9D2525419410}"/>
              </a:ext>
            </a:extLst>
          </p:cNvPr>
          <p:cNvSpPr>
            <a:spLocks noGrp="1"/>
          </p:cNvSpPr>
          <p:nvPr>
            <p:ph idx="1"/>
          </p:nvPr>
        </p:nvSpPr>
        <p:spPr>
          <a:xfrm>
            <a:off x="1444488" y="954157"/>
            <a:ext cx="10747512" cy="6513443"/>
          </a:xfrm>
        </p:spPr>
        <p:txBody>
          <a:bodyPr>
            <a:normAutofit/>
          </a:bodyPr>
          <a:lstStyle/>
          <a:p>
            <a:pPr>
              <a:buSzPct val="100000"/>
              <a:buFont typeface="Wingdings" panose="05000000000000000000" pitchFamily="2" charset="2"/>
              <a:buChar char="q"/>
            </a:pPr>
            <a:r>
              <a:rPr lang="en-US" sz="2400" dirty="0"/>
              <a:t>The models used are </a:t>
            </a:r>
            <a:r>
              <a:rPr lang="en-US" sz="2400" b="1" dirty="0"/>
              <a:t>Mobile-NetV2 </a:t>
            </a:r>
            <a:r>
              <a:rPr lang="en-US" sz="2400" dirty="0"/>
              <a:t>which makes it easier to train individually and is also good when it comes to accuracy and precision</a:t>
            </a:r>
          </a:p>
          <a:p>
            <a:pPr>
              <a:buSzPct val="100000"/>
              <a:buFont typeface="Wingdings" panose="05000000000000000000" pitchFamily="2" charset="2"/>
              <a:buChar char="q"/>
            </a:pPr>
            <a:r>
              <a:rPr lang="en-GB" sz="2400" dirty="0"/>
              <a:t>The frontend is made by </a:t>
            </a:r>
            <a:r>
              <a:rPr lang="en-GB" sz="2400" b="1" dirty="0"/>
              <a:t>HTML, Java-Script and CSS</a:t>
            </a:r>
            <a:r>
              <a:rPr lang="en-GB" sz="2400" dirty="0"/>
              <a:t> with colour changing background and neon colour while the backend is integrated by </a:t>
            </a:r>
            <a:r>
              <a:rPr lang="en-GB" sz="2400" b="1" dirty="0"/>
              <a:t>Flask and </a:t>
            </a:r>
            <a:r>
              <a:rPr lang="en-GB" sz="2400" b="1" dirty="0" err="1"/>
              <a:t>Tensorflow</a:t>
            </a:r>
            <a:r>
              <a:rPr lang="en-GB" sz="2400" b="1" dirty="0"/>
              <a:t> </a:t>
            </a:r>
            <a:r>
              <a:rPr lang="en-GB" sz="2400" dirty="0"/>
              <a:t>.</a:t>
            </a:r>
          </a:p>
          <a:p>
            <a:pPr>
              <a:buSzPct val="100000"/>
              <a:buFont typeface="Wingdings" panose="05000000000000000000" pitchFamily="2" charset="2"/>
              <a:buChar char="q"/>
            </a:pPr>
            <a:r>
              <a:rPr lang="en-GB" sz="2400" dirty="0"/>
              <a:t>There is also a choose language option given in the interface of the web app, it mainly includes 3 languages; </a:t>
            </a:r>
            <a:r>
              <a:rPr lang="en-GB" sz="2400" b="1" u="sng" dirty="0"/>
              <a:t>English(Default), Hindi and Japanese </a:t>
            </a:r>
            <a:r>
              <a:rPr lang="en-GB" sz="2400" dirty="0"/>
              <a:t>by which you can choose whichever language that you want with more language incoming in near future.</a:t>
            </a:r>
          </a:p>
          <a:p>
            <a:pPr>
              <a:buSzPct val="100000"/>
              <a:buFont typeface="Wingdings" panose="05000000000000000000" pitchFamily="2" charset="2"/>
              <a:buChar char="q"/>
            </a:pPr>
            <a:r>
              <a:rPr lang="en-US" sz="2400" dirty="0"/>
              <a:t>To run this locally you can visit my Git account’s repository: </a:t>
            </a:r>
            <a:r>
              <a:rPr lang="en-US" sz="2400" b="1" dirty="0">
                <a:hlinkClick r:id="rId2"/>
              </a:rPr>
              <a:t>https://github.com/sarthaktandulje/Healthinfo-AI.git</a:t>
            </a:r>
            <a:r>
              <a:rPr lang="en-US" sz="2400" b="1" dirty="0"/>
              <a:t> </a:t>
            </a:r>
            <a:r>
              <a:rPr lang="en-US" sz="2400" dirty="0"/>
              <a:t>and clone it while to activate it, you have to run the basic flask integration command in the terminal of the same folder you have the repos. in</a:t>
            </a:r>
            <a:r>
              <a:rPr lang="en-GB" sz="2400" dirty="0"/>
              <a:t>.</a:t>
            </a:r>
            <a:endParaRPr lang="en-US" sz="2400" dirty="0"/>
          </a:p>
          <a:p>
            <a:pPr>
              <a:buSzPct val="100000"/>
              <a:buFont typeface="Wingdings" panose="05000000000000000000" pitchFamily="2" charset="2"/>
              <a:buChar char="q"/>
            </a:pPr>
            <a:endParaRPr lang="en-GB" sz="2400" dirty="0"/>
          </a:p>
        </p:txBody>
      </p:sp>
    </p:spTree>
    <p:extLst>
      <p:ext uri="{BB962C8B-B14F-4D97-AF65-F5344CB8AC3E}">
        <p14:creationId xmlns:p14="http://schemas.microsoft.com/office/powerpoint/2010/main" val="335603094"/>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FA5C2-C97F-1C3E-B492-739F47A0398A}"/>
              </a:ext>
            </a:extLst>
          </p:cNvPr>
          <p:cNvSpPr>
            <a:spLocks noGrp="1"/>
          </p:cNvSpPr>
          <p:nvPr>
            <p:ph type="title"/>
          </p:nvPr>
        </p:nvSpPr>
        <p:spPr>
          <a:xfrm>
            <a:off x="1891611" y="357810"/>
            <a:ext cx="8596668" cy="1320800"/>
          </a:xfrm>
        </p:spPr>
        <p:txBody>
          <a:bodyPr/>
          <a:lstStyle/>
          <a:p>
            <a:r>
              <a:rPr lang="en-US" b="1" u="sng" dirty="0">
                <a:solidFill>
                  <a:schemeClr val="tx1"/>
                </a:solidFill>
              </a:rPr>
              <a:t>Here are some photos of the actual web interface of Healthinfo-AI </a:t>
            </a:r>
            <a:r>
              <a:rPr lang="en-US" u="sng" dirty="0">
                <a:solidFill>
                  <a:schemeClr val="tx1"/>
                </a:solidFill>
              </a:rPr>
              <a:t>:</a:t>
            </a:r>
            <a:endParaRPr lang="en-GB" u="sng" dirty="0">
              <a:solidFill>
                <a:schemeClr val="tx1"/>
              </a:solidFill>
            </a:endParaRPr>
          </a:p>
        </p:txBody>
      </p:sp>
      <p:sp>
        <p:nvSpPr>
          <p:cNvPr id="3" name="TextBox 2">
            <a:extLst>
              <a:ext uri="{FF2B5EF4-FFF2-40B4-BE49-F238E27FC236}">
                <a16:creationId xmlns:a16="http://schemas.microsoft.com/office/drawing/2014/main" id="{B2E78860-710D-C3FC-39C8-52C06BAD419C}"/>
              </a:ext>
            </a:extLst>
          </p:cNvPr>
          <p:cNvSpPr txBox="1"/>
          <p:nvPr/>
        </p:nvSpPr>
        <p:spPr>
          <a:xfrm>
            <a:off x="949615" y="4971428"/>
            <a:ext cx="2513920" cy="400110"/>
          </a:xfrm>
          <a:prstGeom prst="rect">
            <a:avLst/>
          </a:prstGeom>
          <a:noFill/>
        </p:spPr>
        <p:txBody>
          <a:bodyPr wrap="square" rtlCol="0">
            <a:spAutoFit/>
          </a:bodyPr>
          <a:lstStyle/>
          <a:p>
            <a:r>
              <a:rPr lang="en-US" sz="2000" b="1" u="sng" dirty="0"/>
              <a:t>Starting interface</a:t>
            </a:r>
            <a:endParaRPr lang="en-GB" sz="2000" b="1" u="sng" dirty="0"/>
          </a:p>
        </p:txBody>
      </p:sp>
      <p:sp>
        <p:nvSpPr>
          <p:cNvPr id="4" name="TextBox 3">
            <a:extLst>
              <a:ext uri="{FF2B5EF4-FFF2-40B4-BE49-F238E27FC236}">
                <a16:creationId xmlns:a16="http://schemas.microsoft.com/office/drawing/2014/main" id="{83797F0B-AE66-6DEE-57B3-4E6DEFF4502D}"/>
              </a:ext>
            </a:extLst>
          </p:cNvPr>
          <p:cNvSpPr txBox="1"/>
          <p:nvPr/>
        </p:nvSpPr>
        <p:spPr>
          <a:xfrm>
            <a:off x="4872558" y="4947465"/>
            <a:ext cx="3350803" cy="400110"/>
          </a:xfrm>
          <a:prstGeom prst="rect">
            <a:avLst/>
          </a:prstGeom>
          <a:noFill/>
        </p:spPr>
        <p:txBody>
          <a:bodyPr wrap="square" rtlCol="0">
            <a:spAutoFit/>
          </a:bodyPr>
          <a:lstStyle/>
          <a:p>
            <a:r>
              <a:rPr lang="en-US" sz="2000" b="1" u="sng" dirty="0"/>
              <a:t>Skin Diagnosis Model</a:t>
            </a:r>
            <a:endParaRPr lang="en-GB" sz="2000" b="1" u="sng" dirty="0"/>
          </a:p>
        </p:txBody>
      </p:sp>
      <p:sp>
        <p:nvSpPr>
          <p:cNvPr id="5" name="TextBox 4">
            <a:extLst>
              <a:ext uri="{FF2B5EF4-FFF2-40B4-BE49-F238E27FC236}">
                <a16:creationId xmlns:a16="http://schemas.microsoft.com/office/drawing/2014/main" id="{B4C0B42A-B348-52A5-EFF8-AE501AE6E575}"/>
              </a:ext>
            </a:extLst>
          </p:cNvPr>
          <p:cNvSpPr txBox="1"/>
          <p:nvPr/>
        </p:nvSpPr>
        <p:spPr>
          <a:xfrm>
            <a:off x="8905283" y="4971428"/>
            <a:ext cx="2941983" cy="400110"/>
          </a:xfrm>
          <a:prstGeom prst="rect">
            <a:avLst/>
          </a:prstGeom>
          <a:noFill/>
        </p:spPr>
        <p:txBody>
          <a:bodyPr wrap="square" rtlCol="0">
            <a:spAutoFit/>
          </a:bodyPr>
          <a:lstStyle/>
          <a:p>
            <a:r>
              <a:rPr lang="en-US" sz="2000" b="1" u="sng" dirty="0"/>
              <a:t>Xray Diagnosis Model</a:t>
            </a:r>
            <a:endParaRPr lang="en-GB" sz="2000" b="1" u="sng" dirty="0"/>
          </a:p>
        </p:txBody>
      </p:sp>
      <p:pic>
        <p:nvPicPr>
          <p:cNvPr id="7" name="Picture 6">
            <a:extLst>
              <a:ext uri="{FF2B5EF4-FFF2-40B4-BE49-F238E27FC236}">
                <a16:creationId xmlns:a16="http://schemas.microsoft.com/office/drawing/2014/main" id="{2414C31B-1D4F-2DA9-E9B2-11B476439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92624"/>
            <a:ext cx="4041229" cy="2464900"/>
          </a:xfrm>
          <a:prstGeom prst="rect">
            <a:avLst/>
          </a:prstGeom>
        </p:spPr>
      </p:pic>
      <p:pic>
        <p:nvPicPr>
          <p:cNvPr id="9" name="Picture 8">
            <a:extLst>
              <a:ext uri="{FF2B5EF4-FFF2-40B4-BE49-F238E27FC236}">
                <a16:creationId xmlns:a16="http://schemas.microsoft.com/office/drawing/2014/main" id="{E669C384-6AB3-BBDF-C08E-F2BC9E96F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8550" y="2292624"/>
            <a:ext cx="3873450" cy="2464902"/>
          </a:xfrm>
          <a:prstGeom prst="rect">
            <a:avLst/>
          </a:prstGeom>
        </p:spPr>
      </p:pic>
      <p:pic>
        <p:nvPicPr>
          <p:cNvPr id="11" name="Picture 10">
            <a:extLst>
              <a:ext uri="{FF2B5EF4-FFF2-40B4-BE49-F238E27FC236}">
                <a16:creationId xmlns:a16="http://schemas.microsoft.com/office/drawing/2014/main" id="{53B25F21-99C7-D821-9C72-E8B76EEA7B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528" y="2292624"/>
            <a:ext cx="4066833" cy="2464900"/>
          </a:xfrm>
          <a:prstGeom prst="rect">
            <a:avLst/>
          </a:prstGeom>
        </p:spPr>
      </p:pic>
    </p:spTree>
    <p:extLst>
      <p:ext uri="{BB962C8B-B14F-4D97-AF65-F5344CB8AC3E}">
        <p14:creationId xmlns:p14="http://schemas.microsoft.com/office/powerpoint/2010/main" val="3423700618"/>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08150-9166-C171-2FE7-D3A2C63D834E}"/>
              </a:ext>
            </a:extLst>
          </p:cNvPr>
          <p:cNvSpPr>
            <a:spLocks noGrp="1"/>
          </p:cNvSpPr>
          <p:nvPr>
            <p:ph type="title"/>
          </p:nvPr>
        </p:nvSpPr>
        <p:spPr>
          <a:xfrm>
            <a:off x="1797666" y="262255"/>
            <a:ext cx="8596668" cy="1320800"/>
          </a:xfrm>
        </p:spPr>
        <p:txBody>
          <a:bodyPr>
            <a:noAutofit/>
          </a:bodyPr>
          <a:lstStyle/>
          <a:p>
            <a:r>
              <a:rPr lang="en-US" sz="8000" b="1" u="sng" dirty="0"/>
              <a:t>Disaster Dataset</a:t>
            </a:r>
            <a:endParaRPr lang="en-GB" sz="8000" b="1" u="sng" dirty="0"/>
          </a:p>
        </p:txBody>
      </p:sp>
      <p:sp>
        <p:nvSpPr>
          <p:cNvPr id="3" name="Content Placeholder 2">
            <a:extLst>
              <a:ext uri="{FF2B5EF4-FFF2-40B4-BE49-F238E27FC236}">
                <a16:creationId xmlns:a16="http://schemas.microsoft.com/office/drawing/2014/main" id="{64F4C324-ECC6-C08F-DA0C-C76A8A5EE767}"/>
              </a:ext>
            </a:extLst>
          </p:cNvPr>
          <p:cNvSpPr>
            <a:spLocks noGrp="1"/>
          </p:cNvSpPr>
          <p:nvPr>
            <p:ph idx="1"/>
          </p:nvPr>
        </p:nvSpPr>
        <p:spPr>
          <a:xfrm>
            <a:off x="1247175" y="1583055"/>
            <a:ext cx="10534007" cy="5121482"/>
          </a:xfrm>
        </p:spPr>
        <p:txBody>
          <a:bodyPr>
            <a:normAutofit lnSpcReduction="10000"/>
          </a:bodyPr>
          <a:lstStyle/>
          <a:p>
            <a:pPr>
              <a:buSzPct val="100000"/>
              <a:buFont typeface="Wingdings" panose="05000000000000000000" pitchFamily="2" charset="2"/>
              <a:buChar char="q"/>
            </a:pPr>
            <a:r>
              <a:rPr lang="en-US" sz="2400" dirty="0"/>
              <a:t>The dataset is organized into </a:t>
            </a:r>
            <a:r>
              <a:rPr lang="en-US" sz="2400" b="1" dirty="0"/>
              <a:t>five primary disaster classes; fire, smoke(only), flood, landslide and earthquake(newly added)</a:t>
            </a:r>
            <a:r>
              <a:rPr lang="en-US" sz="2400" dirty="0"/>
              <a:t>, with an additional </a:t>
            </a:r>
            <a:r>
              <a:rPr lang="en-US" sz="2400" b="1" dirty="0"/>
              <a:t>‘Normal’ class</a:t>
            </a:r>
            <a:r>
              <a:rPr lang="en-US" sz="2400" dirty="0"/>
              <a:t> included for baseline comparison and will be extended further in future.</a:t>
            </a:r>
          </a:p>
          <a:p>
            <a:pPr>
              <a:buSzPct val="100000"/>
              <a:buFont typeface="Wingdings" panose="05000000000000000000" pitchFamily="2" charset="2"/>
              <a:buChar char="q"/>
            </a:pPr>
            <a:r>
              <a:rPr lang="en-US" sz="2400" dirty="0"/>
              <a:t> This dataset in total have </a:t>
            </a:r>
            <a:r>
              <a:rPr lang="en-US" sz="2400" b="1" u="sng" dirty="0"/>
              <a:t>more than 9000 images</a:t>
            </a:r>
            <a:r>
              <a:rPr lang="en-US" sz="2400" dirty="0"/>
              <a:t>, all of which was collected from official sources like </a:t>
            </a:r>
            <a:r>
              <a:rPr lang="en-US" sz="2400" b="1" dirty="0"/>
              <a:t>Google images, Bing images, Researches, News reports</a:t>
            </a:r>
            <a:r>
              <a:rPr lang="en-US" sz="2400" dirty="0"/>
              <a:t> and etc. </a:t>
            </a:r>
            <a:r>
              <a:rPr lang="en-US" sz="2800" b="1" u="sng" dirty="0"/>
              <a:t>manually</a:t>
            </a:r>
            <a:r>
              <a:rPr lang="en-US" sz="2400" dirty="0"/>
              <a:t> and none of which is animated.</a:t>
            </a:r>
          </a:p>
          <a:p>
            <a:pPr>
              <a:buSzPct val="100000"/>
              <a:buFont typeface="Wingdings" panose="05000000000000000000" pitchFamily="2" charset="2"/>
              <a:buChar char="q"/>
            </a:pPr>
            <a:r>
              <a:rPr lang="en-GB" sz="2400" dirty="0"/>
              <a:t>The objective behind creating this particular dataset is that it can help to train AI models </a:t>
            </a:r>
            <a:r>
              <a:rPr lang="en-GB" sz="2400" b="1" dirty="0"/>
              <a:t>to identify and differentiate between calamities.</a:t>
            </a:r>
          </a:p>
          <a:p>
            <a:pPr>
              <a:buSzPct val="100000"/>
              <a:buFont typeface="Wingdings" panose="05000000000000000000" pitchFamily="2" charset="2"/>
              <a:buChar char="q"/>
            </a:pPr>
            <a:r>
              <a:rPr lang="en-US" sz="2400" dirty="0"/>
              <a:t>Images were sourced from multiple geographic regions to avoid bias.</a:t>
            </a:r>
            <a:endParaRPr lang="en-GB" sz="2400" b="1" dirty="0"/>
          </a:p>
        </p:txBody>
      </p:sp>
    </p:spTree>
    <p:extLst>
      <p:ext uri="{BB962C8B-B14F-4D97-AF65-F5344CB8AC3E}">
        <p14:creationId xmlns:p14="http://schemas.microsoft.com/office/powerpoint/2010/main" val="3446552092"/>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744F-C7F3-F5D1-20D8-13788795E02C}"/>
              </a:ext>
            </a:extLst>
          </p:cNvPr>
          <p:cNvSpPr>
            <a:spLocks noGrp="1"/>
          </p:cNvSpPr>
          <p:nvPr>
            <p:ph type="title"/>
          </p:nvPr>
        </p:nvSpPr>
        <p:spPr/>
        <p:txBody>
          <a:bodyPr/>
          <a:lstStyle/>
          <a:p>
            <a:r>
              <a:rPr lang="en-US" dirty="0"/>
              <a:t>.</a:t>
            </a:r>
            <a:endParaRPr lang="en-GB" dirty="0"/>
          </a:p>
        </p:txBody>
      </p:sp>
      <p:sp>
        <p:nvSpPr>
          <p:cNvPr id="3" name="Content Placeholder 2">
            <a:extLst>
              <a:ext uri="{FF2B5EF4-FFF2-40B4-BE49-F238E27FC236}">
                <a16:creationId xmlns:a16="http://schemas.microsoft.com/office/drawing/2014/main" id="{BB4078BA-5664-7D11-DDFA-E9F74896BCE9}"/>
              </a:ext>
            </a:extLst>
          </p:cNvPr>
          <p:cNvSpPr>
            <a:spLocks noGrp="1"/>
          </p:cNvSpPr>
          <p:nvPr>
            <p:ph idx="4294967295"/>
          </p:nvPr>
        </p:nvSpPr>
        <p:spPr>
          <a:xfrm>
            <a:off x="1171575" y="1431925"/>
            <a:ext cx="11020425" cy="5576888"/>
          </a:xfrm>
        </p:spPr>
        <p:txBody>
          <a:bodyPr>
            <a:normAutofit/>
          </a:bodyPr>
          <a:lstStyle/>
          <a:p>
            <a:pPr>
              <a:buSzPct val="100000"/>
              <a:buFont typeface="Wingdings" panose="05000000000000000000" pitchFamily="2" charset="2"/>
              <a:buChar char="q"/>
            </a:pPr>
            <a:r>
              <a:rPr lang="en-US" sz="2400" dirty="0"/>
              <a:t>The disaster dataset is officially </a:t>
            </a:r>
            <a:r>
              <a:rPr lang="en-US" sz="2400" b="1" dirty="0"/>
              <a:t>posted on “Kaggle” </a:t>
            </a:r>
            <a:r>
              <a:rPr lang="en-US" sz="2400" dirty="0"/>
              <a:t>and have </a:t>
            </a:r>
            <a:r>
              <a:rPr lang="en-US" sz="2400" b="1" dirty="0"/>
              <a:t>gain recognition</a:t>
            </a:r>
            <a:r>
              <a:rPr lang="en-US" sz="2400" dirty="0"/>
              <a:t> by several people which have visited, downloaded and also have upvoted the dataset while the dataset itself can be extended for </a:t>
            </a:r>
            <a:r>
              <a:rPr lang="en-US" sz="2400" b="1" dirty="0"/>
              <a:t>real-time disaster monitoring.</a:t>
            </a:r>
          </a:p>
          <a:p>
            <a:pPr>
              <a:buSzPct val="100000"/>
              <a:buFont typeface="Wingdings" panose="05000000000000000000" pitchFamily="2" charset="2"/>
              <a:buChar char="q"/>
            </a:pPr>
            <a:r>
              <a:rPr lang="en-US" sz="2400" b="1" dirty="0"/>
              <a:t>Classes were chosen to minimize visual overlap </a:t>
            </a:r>
            <a:r>
              <a:rPr lang="en-US" sz="2400" dirty="0"/>
              <a:t>while maximizing real-world usefulness. The dataset will be used to train multi-class disaster detection models for drone and CCTV feeds.</a:t>
            </a:r>
            <a:endParaRPr lang="en-US" sz="2400" b="1" dirty="0"/>
          </a:p>
          <a:p>
            <a:pPr>
              <a:buSzPct val="100000"/>
              <a:buFont typeface="Wingdings" panose="05000000000000000000" pitchFamily="2" charset="2"/>
              <a:buChar char="q"/>
            </a:pPr>
            <a:r>
              <a:rPr lang="en-US" sz="2400" dirty="0"/>
              <a:t>To download or see the dataset go to: </a:t>
            </a:r>
            <a:r>
              <a:rPr lang="en-US" sz="2400" b="1" dirty="0">
                <a:hlinkClick r:id="rId2"/>
              </a:rPr>
              <a:t>https://www.kaggle.com/datasets/sarthaktandulje/disaster-damage-5class</a:t>
            </a:r>
            <a:endParaRPr lang="en-US" sz="2400" b="1" dirty="0"/>
          </a:p>
          <a:p>
            <a:pPr>
              <a:buSzPct val="100000"/>
              <a:buFont typeface="Wingdings" panose="05000000000000000000" pitchFamily="2" charset="2"/>
              <a:buChar char="q"/>
            </a:pPr>
            <a:endParaRPr lang="en-GB" sz="2400" dirty="0"/>
          </a:p>
        </p:txBody>
      </p:sp>
    </p:spTree>
    <p:extLst>
      <p:ext uri="{BB962C8B-B14F-4D97-AF65-F5344CB8AC3E}">
        <p14:creationId xmlns:p14="http://schemas.microsoft.com/office/powerpoint/2010/main" val="752874998"/>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D0BB4-583B-17EB-6ADF-9E540887C26C}"/>
              </a:ext>
            </a:extLst>
          </p:cNvPr>
          <p:cNvSpPr>
            <a:spLocks noGrp="1"/>
          </p:cNvSpPr>
          <p:nvPr>
            <p:ph type="title"/>
          </p:nvPr>
        </p:nvSpPr>
        <p:spPr>
          <a:xfrm rot="10800000" flipV="1">
            <a:off x="0" y="0"/>
            <a:ext cx="11748052" cy="757165"/>
          </a:xfrm>
        </p:spPr>
        <p:txBody>
          <a:bodyPr>
            <a:noAutofit/>
          </a:bodyPr>
          <a:lstStyle/>
          <a:p>
            <a:pPr algn="ctr"/>
            <a:r>
              <a:rPr lang="en-US" sz="4400" b="1" u="sng" dirty="0"/>
              <a:t>Name of Classes and number of Images:-</a:t>
            </a:r>
            <a:endParaRPr lang="en-GB" sz="4400" b="1" u="sng" dirty="0"/>
          </a:p>
        </p:txBody>
      </p:sp>
      <p:graphicFrame>
        <p:nvGraphicFramePr>
          <p:cNvPr id="4" name="Table 3">
            <a:extLst>
              <a:ext uri="{FF2B5EF4-FFF2-40B4-BE49-F238E27FC236}">
                <a16:creationId xmlns:a16="http://schemas.microsoft.com/office/drawing/2014/main" id="{C44BBAE4-AE5F-A6F8-55B4-69B626C82913}"/>
              </a:ext>
            </a:extLst>
          </p:cNvPr>
          <p:cNvGraphicFramePr>
            <a:graphicFrameLocks noGrp="1"/>
          </p:cNvGraphicFramePr>
          <p:nvPr>
            <p:extLst>
              <p:ext uri="{D42A27DB-BD31-4B8C-83A1-F6EECF244321}">
                <p14:modId xmlns:p14="http://schemas.microsoft.com/office/powerpoint/2010/main" val="273970835"/>
              </p:ext>
            </p:extLst>
          </p:nvPr>
        </p:nvGraphicFramePr>
        <p:xfrm>
          <a:off x="1623391" y="999537"/>
          <a:ext cx="8945218" cy="4858926"/>
        </p:xfrm>
        <a:graphic>
          <a:graphicData uri="http://schemas.openxmlformats.org/drawingml/2006/table">
            <a:tbl>
              <a:tblPr firstRow="1" bandRow="1">
                <a:tableStyleId>{5C22544A-7EE6-4342-B048-85BDC9FD1C3A}</a:tableStyleId>
              </a:tblPr>
              <a:tblGrid>
                <a:gridCol w="4459357">
                  <a:extLst>
                    <a:ext uri="{9D8B030D-6E8A-4147-A177-3AD203B41FA5}">
                      <a16:colId xmlns:a16="http://schemas.microsoft.com/office/drawing/2014/main" val="4114719623"/>
                    </a:ext>
                  </a:extLst>
                </a:gridCol>
                <a:gridCol w="4485861">
                  <a:extLst>
                    <a:ext uri="{9D8B030D-6E8A-4147-A177-3AD203B41FA5}">
                      <a16:colId xmlns:a16="http://schemas.microsoft.com/office/drawing/2014/main" val="2098752297"/>
                    </a:ext>
                  </a:extLst>
                </a:gridCol>
              </a:tblGrid>
              <a:tr h="739076">
                <a:tc>
                  <a:txBody>
                    <a:bodyPr/>
                    <a:lstStyle/>
                    <a:p>
                      <a:pPr algn="ctr"/>
                      <a:r>
                        <a:rPr lang="en-US" sz="4000" dirty="0"/>
                        <a:t>CLASSES</a:t>
                      </a:r>
                      <a:endParaRPr lang="en-GB" sz="4000" dirty="0"/>
                    </a:p>
                  </a:txBody>
                  <a:tcPr/>
                </a:tc>
                <a:tc>
                  <a:txBody>
                    <a:bodyPr/>
                    <a:lstStyle/>
                    <a:p>
                      <a:pPr algn="ctr"/>
                      <a:r>
                        <a:rPr lang="en-US" sz="4000" dirty="0"/>
                        <a:t>IMAGES</a:t>
                      </a:r>
                      <a:endParaRPr lang="en-GB" sz="4000" dirty="0"/>
                    </a:p>
                  </a:txBody>
                  <a:tcPr/>
                </a:tc>
                <a:extLst>
                  <a:ext uri="{0D108BD9-81ED-4DB2-BD59-A6C34878D82A}">
                    <a16:rowId xmlns:a16="http://schemas.microsoft.com/office/drawing/2014/main" val="2016088315"/>
                  </a:ext>
                </a:extLst>
              </a:tr>
              <a:tr h="695954">
                <a:tc>
                  <a:txBody>
                    <a:bodyPr/>
                    <a:lstStyle/>
                    <a:p>
                      <a:pPr algn="ctr"/>
                      <a:r>
                        <a:rPr lang="en-US" sz="3600" dirty="0"/>
                        <a:t>FIRE</a:t>
                      </a:r>
                      <a:endParaRPr lang="en-GB" sz="3600" dirty="0"/>
                    </a:p>
                  </a:txBody>
                  <a:tcPr/>
                </a:tc>
                <a:tc>
                  <a:txBody>
                    <a:bodyPr/>
                    <a:lstStyle/>
                    <a:p>
                      <a:pPr algn="ctr"/>
                      <a:r>
                        <a:rPr lang="en-US" sz="3600" dirty="0"/>
                        <a:t>2537</a:t>
                      </a:r>
                      <a:endParaRPr lang="en-GB" sz="3600" dirty="0"/>
                    </a:p>
                  </a:txBody>
                  <a:tcPr/>
                </a:tc>
                <a:extLst>
                  <a:ext uri="{0D108BD9-81ED-4DB2-BD59-A6C34878D82A}">
                    <a16:rowId xmlns:a16="http://schemas.microsoft.com/office/drawing/2014/main" val="944135473"/>
                  </a:ext>
                </a:extLst>
              </a:tr>
              <a:tr h="695954">
                <a:tc>
                  <a:txBody>
                    <a:bodyPr/>
                    <a:lstStyle/>
                    <a:p>
                      <a:pPr algn="ctr"/>
                      <a:r>
                        <a:rPr lang="en-US" sz="3600" dirty="0"/>
                        <a:t>FLOOD</a:t>
                      </a:r>
                      <a:endParaRPr lang="en-GB" sz="3600" dirty="0"/>
                    </a:p>
                  </a:txBody>
                  <a:tcPr/>
                </a:tc>
                <a:tc>
                  <a:txBody>
                    <a:bodyPr/>
                    <a:lstStyle/>
                    <a:p>
                      <a:pPr algn="ctr"/>
                      <a:r>
                        <a:rPr lang="en-US" sz="3600" dirty="0"/>
                        <a:t>2706</a:t>
                      </a:r>
                      <a:endParaRPr lang="en-GB" sz="3600" dirty="0"/>
                    </a:p>
                  </a:txBody>
                  <a:tcPr/>
                </a:tc>
                <a:extLst>
                  <a:ext uri="{0D108BD9-81ED-4DB2-BD59-A6C34878D82A}">
                    <a16:rowId xmlns:a16="http://schemas.microsoft.com/office/drawing/2014/main" val="2751222420"/>
                  </a:ext>
                </a:extLst>
              </a:tr>
              <a:tr h="695954">
                <a:tc>
                  <a:txBody>
                    <a:bodyPr/>
                    <a:lstStyle/>
                    <a:p>
                      <a:pPr algn="ctr"/>
                      <a:r>
                        <a:rPr lang="en-US" sz="3600" dirty="0"/>
                        <a:t>EARTHQUAKE</a:t>
                      </a:r>
                      <a:endParaRPr lang="en-GB" sz="3600" dirty="0"/>
                    </a:p>
                  </a:txBody>
                  <a:tcPr/>
                </a:tc>
                <a:tc>
                  <a:txBody>
                    <a:bodyPr/>
                    <a:lstStyle/>
                    <a:p>
                      <a:pPr algn="ctr"/>
                      <a:r>
                        <a:rPr lang="en-US" sz="3600" dirty="0"/>
                        <a:t>1000</a:t>
                      </a:r>
                      <a:endParaRPr lang="en-GB" sz="3600" dirty="0"/>
                    </a:p>
                  </a:txBody>
                  <a:tcPr/>
                </a:tc>
                <a:extLst>
                  <a:ext uri="{0D108BD9-81ED-4DB2-BD59-A6C34878D82A}">
                    <a16:rowId xmlns:a16="http://schemas.microsoft.com/office/drawing/2014/main" val="329694625"/>
                  </a:ext>
                </a:extLst>
              </a:tr>
              <a:tr h="695954">
                <a:tc>
                  <a:txBody>
                    <a:bodyPr/>
                    <a:lstStyle/>
                    <a:p>
                      <a:pPr algn="ctr"/>
                      <a:r>
                        <a:rPr lang="en-US" sz="3600" dirty="0"/>
                        <a:t>LANDSLIDE</a:t>
                      </a:r>
                      <a:endParaRPr lang="en-GB" sz="3600" dirty="0"/>
                    </a:p>
                  </a:txBody>
                  <a:tcPr/>
                </a:tc>
                <a:tc>
                  <a:txBody>
                    <a:bodyPr/>
                    <a:lstStyle/>
                    <a:p>
                      <a:pPr algn="ctr"/>
                      <a:r>
                        <a:rPr lang="en-US" sz="3600" dirty="0"/>
                        <a:t>310</a:t>
                      </a:r>
                      <a:endParaRPr lang="en-GB" sz="3600" dirty="0"/>
                    </a:p>
                  </a:txBody>
                  <a:tcPr/>
                </a:tc>
                <a:extLst>
                  <a:ext uri="{0D108BD9-81ED-4DB2-BD59-A6C34878D82A}">
                    <a16:rowId xmlns:a16="http://schemas.microsoft.com/office/drawing/2014/main" val="591464515"/>
                  </a:ext>
                </a:extLst>
              </a:tr>
              <a:tr h="263650">
                <a:tc>
                  <a:txBody>
                    <a:bodyPr/>
                    <a:lstStyle/>
                    <a:p>
                      <a:pPr algn="ctr"/>
                      <a:r>
                        <a:rPr lang="en-US" sz="3600" dirty="0"/>
                        <a:t>SMOKE(no fire)</a:t>
                      </a:r>
                      <a:endParaRPr lang="en-GB" sz="3600" dirty="0"/>
                    </a:p>
                  </a:txBody>
                  <a:tcPr/>
                </a:tc>
                <a:tc>
                  <a:txBody>
                    <a:bodyPr/>
                    <a:lstStyle/>
                    <a:p>
                      <a:pPr algn="ctr"/>
                      <a:r>
                        <a:rPr lang="en-US" sz="3600" dirty="0"/>
                        <a:t>302</a:t>
                      </a:r>
                      <a:endParaRPr lang="en-GB" sz="3600" dirty="0"/>
                    </a:p>
                  </a:txBody>
                  <a:tcPr/>
                </a:tc>
                <a:extLst>
                  <a:ext uri="{0D108BD9-81ED-4DB2-BD59-A6C34878D82A}">
                    <a16:rowId xmlns:a16="http://schemas.microsoft.com/office/drawing/2014/main" val="4081541306"/>
                  </a:ext>
                </a:extLst>
              </a:tr>
              <a:tr h="695954">
                <a:tc>
                  <a:txBody>
                    <a:bodyPr/>
                    <a:lstStyle/>
                    <a:p>
                      <a:pPr algn="ctr"/>
                      <a:r>
                        <a:rPr lang="en-US" sz="3600" dirty="0"/>
                        <a:t>NORMAL</a:t>
                      </a:r>
                      <a:endParaRPr lang="en-GB" sz="3600" dirty="0"/>
                    </a:p>
                  </a:txBody>
                  <a:tcPr/>
                </a:tc>
                <a:tc>
                  <a:txBody>
                    <a:bodyPr/>
                    <a:lstStyle/>
                    <a:p>
                      <a:pPr algn="ctr"/>
                      <a:r>
                        <a:rPr lang="en-US" sz="3600" dirty="0"/>
                        <a:t>2226</a:t>
                      </a:r>
                      <a:endParaRPr lang="en-GB" sz="3600" dirty="0"/>
                    </a:p>
                  </a:txBody>
                  <a:tcPr/>
                </a:tc>
                <a:extLst>
                  <a:ext uri="{0D108BD9-81ED-4DB2-BD59-A6C34878D82A}">
                    <a16:rowId xmlns:a16="http://schemas.microsoft.com/office/drawing/2014/main" val="296961385"/>
                  </a:ext>
                </a:extLst>
              </a:tr>
            </a:tbl>
          </a:graphicData>
        </a:graphic>
      </p:graphicFrame>
      <p:graphicFrame>
        <p:nvGraphicFramePr>
          <p:cNvPr id="5" name="Table 4">
            <a:extLst>
              <a:ext uri="{FF2B5EF4-FFF2-40B4-BE49-F238E27FC236}">
                <a16:creationId xmlns:a16="http://schemas.microsoft.com/office/drawing/2014/main" id="{DCF5FBFC-D825-2921-DC08-A26797CE3F4C}"/>
              </a:ext>
            </a:extLst>
          </p:cNvPr>
          <p:cNvGraphicFramePr>
            <a:graphicFrameLocks noGrp="1"/>
          </p:cNvGraphicFramePr>
          <p:nvPr>
            <p:extLst>
              <p:ext uri="{D42A27DB-BD31-4B8C-83A1-F6EECF244321}">
                <p14:modId xmlns:p14="http://schemas.microsoft.com/office/powerpoint/2010/main" val="3940811378"/>
              </p:ext>
            </p:extLst>
          </p:nvPr>
        </p:nvGraphicFramePr>
        <p:xfrm>
          <a:off x="1623391" y="5893687"/>
          <a:ext cx="8945218" cy="701040"/>
        </p:xfrm>
        <a:graphic>
          <a:graphicData uri="http://schemas.openxmlformats.org/drawingml/2006/table">
            <a:tbl>
              <a:tblPr firstRow="1" bandRow="1">
                <a:tableStyleId>{5C22544A-7EE6-4342-B048-85BDC9FD1C3A}</a:tableStyleId>
              </a:tblPr>
              <a:tblGrid>
                <a:gridCol w="4472609">
                  <a:extLst>
                    <a:ext uri="{9D8B030D-6E8A-4147-A177-3AD203B41FA5}">
                      <a16:colId xmlns:a16="http://schemas.microsoft.com/office/drawing/2014/main" val="3385952550"/>
                    </a:ext>
                  </a:extLst>
                </a:gridCol>
                <a:gridCol w="4472609">
                  <a:extLst>
                    <a:ext uri="{9D8B030D-6E8A-4147-A177-3AD203B41FA5}">
                      <a16:colId xmlns:a16="http://schemas.microsoft.com/office/drawing/2014/main" val="944714704"/>
                    </a:ext>
                  </a:extLst>
                </a:gridCol>
              </a:tblGrid>
              <a:tr h="652440">
                <a:tc>
                  <a:txBody>
                    <a:bodyPr/>
                    <a:lstStyle/>
                    <a:p>
                      <a:pPr algn="ctr"/>
                      <a:r>
                        <a:rPr lang="en-US" sz="4000" dirty="0"/>
                        <a:t>No. of Images:-</a:t>
                      </a:r>
                      <a:endParaRPr lang="en-GB" sz="4000" dirty="0"/>
                    </a:p>
                  </a:txBody>
                  <a:tcPr/>
                </a:tc>
                <a:tc>
                  <a:txBody>
                    <a:bodyPr/>
                    <a:lstStyle/>
                    <a:p>
                      <a:pPr algn="ctr"/>
                      <a:r>
                        <a:rPr lang="en-US" sz="4000" dirty="0"/>
                        <a:t>9081</a:t>
                      </a:r>
                      <a:endParaRPr lang="en-GB" sz="4000" dirty="0"/>
                    </a:p>
                  </a:txBody>
                  <a:tcPr/>
                </a:tc>
                <a:extLst>
                  <a:ext uri="{0D108BD9-81ED-4DB2-BD59-A6C34878D82A}">
                    <a16:rowId xmlns:a16="http://schemas.microsoft.com/office/drawing/2014/main" val="3563533785"/>
                  </a:ext>
                </a:extLst>
              </a:tr>
            </a:tbl>
          </a:graphicData>
        </a:graphic>
      </p:graphicFrame>
    </p:spTree>
    <p:extLst>
      <p:ext uri="{BB962C8B-B14F-4D97-AF65-F5344CB8AC3E}">
        <p14:creationId xmlns:p14="http://schemas.microsoft.com/office/powerpoint/2010/main" val="2096063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56E5-2C05-9458-BE5D-B7B6EFBE1702}"/>
              </a:ext>
            </a:extLst>
          </p:cNvPr>
          <p:cNvSpPr>
            <a:spLocks noGrp="1"/>
          </p:cNvSpPr>
          <p:nvPr>
            <p:ph type="title"/>
          </p:nvPr>
        </p:nvSpPr>
        <p:spPr>
          <a:xfrm>
            <a:off x="1683028" y="213293"/>
            <a:ext cx="9781828" cy="1280890"/>
          </a:xfrm>
        </p:spPr>
        <p:txBody>
          <a:bodyPr>
            <a:noAutofit/>
          </a:bodyPr>
          <a:lstStyle/>
          <a:p>
            <a:r>
              <a:rPr lang="en-US" sz="8000" b="1" dirty="0"/>
              <a:t>My Research Vision</a:t>
            </a:r>
            <a:endParaRPr lang="en-GB" sz="8000" b="1" dirty="0"/>
          </a:p>
        </p:txBody>
      </p:sp>
      <p:sp>
        <p:nvSpPr>
          <p:cNvPr id="3" name="TextBox 2">
            <a:extLst>
              <a:ext uri="{FF2B5EF4-FFF2-40B4-BE49-F238E27FC236}">
                <a16:creationId xmlns:a16="http://schemas.microsoft.com/office/drawing/2014/main" id="{B9C080F6-EB28-7589-0BE0-215CCD051FCC}"/>
              </a:ext>
            </a:extLst>
          </p:cNvPr>
          <p:cNvSpPr txBox="1"/>
          <p:nvPr/>
        </p:nvSpPr>
        <p:spPr>
          <a:xfrm>
            <a:off x="1046921" y="1815547"/>
            <a:ext cx="10813774" cy="4893647"/>
          </a:xfrm>
          <a:prstGeom prst="rect">
            <a:avLst/>
          </a:prstGeom>
          <a:noFill/>
        </p:spPr>
        <p:txBody>
          <a:bodyPr wrap="square" rtlCol="0">
            <a:spAutoFit/>
          </a:bodyPr>
          <a:lstStyle/>
          <a:p>
            <a:pPr marL="285750" indent="-285750">
              <a:buClr>
                <a:schemeClr val="accent1"/>
              </a:buClr>
              <a:buFont typeface="Wingdings" panose="05000000000000000000" pitchFamily="2" charset="2"/>
              <a:buChar char="q"/>
            </a:pPr>
            <a:r>
              <a:rPr lang="en-US" sz="2400" dirty="0"/>
              <a:t>My long-term goal is to develop AI systems that </a:t>
            </a:r>
            <a:r>
              <a:rPr lang="en-US" sz="2400" b="1" dirty="0"/>
              <a:t>assist non-expert users </a:t>
            </a:r>
            <a:r>
              <a:rPr lang="en-US" sz="2400" dirty="0"/>
              <a:t>in </a:t>
            </a:r>
            <a:r>
              <a:rPr lang="en-US" sz="2400" b="1" dirty="0"/>
              <a:t>critical decision-making</a:t>
            </a:r>
            <a:r>
              <a:rPr lang="en-US" sz="2400" dirty="0"/>
              <a:t>, especially </a:t>
            </a:r>
            <a:r>
              <a:rPr lang="en-US" sz="2400" b="1" dirty="0"/>
              <a:t>in agriculture, healthcare, and disaster response and management.</a:t>
            </a:r>
          </a:p>
          <a:p>
            <a:pPr marL="285750" indent="-285750">
              <a:buClr>
                <a:schemeClr val="accent1"/>
              </a:buClr>
              <a:buFont typeface="Wingdings" panose="05000000000000000000" pitchFamily="2" charset="2"/>
              <a:buChar char="q"/>
            </a:pPr>
            <a:r>
              <a:rPr lang="en-US" sz="2400" dirty="0"/>
              <a:t>I aim to develop AI systems that can </a:t>
            </a:r>
            <a:r>
              <a:rPr lang="en-US" sz="2400" b="1" dirty="0"/>
              <a:t>assist farmers, patients, and emergency responders</a:t>
            </a:r>
            <a:r>
              <a:rPr lang="en-US" sz="2400" dirty="0"/>
              <a:t> by providing </a:t>
            </a:r>
            <a:r>
              <a:rPr lang="en-US" sz="2400" b="1" dirty="0"/>
              <a:t>fast, accurate, and explainable visual intelligence.</a:t>
            </a:r>
          </a:p>
          <a:p>
            <a:pPr marL="285750" indent="-285750">
              <a:buClr>
                <a:schemeClr val="accent1"/>
              </a:buClr>
              <a:buFont typeface="Wingdings" panose="05000000000000000000" pitchFamily="2" charset="2"/>
              <a:buChar char="q"/>
            </a:pPr>
            <a:r>
              <a:rPr lang="en-US" sz="2400" dirty="0"/>
              <a:t>My research focus is on making deep learning models </a:t>
            </a:r>
            <a:r>
              <a:rPr lang="en-US" sz="2400" b="1" dirty="0"/>
              <a:t>reliable in real-world conditions</a:t>
            </a:r>
            <a:r>
              <a:rPr lang="en-US" sz="2400" dirty="0"/>
              <a:t>, including low-quality images, uncertainty, and limited resources.</a:t>
            </a:r>
          </a:p>
          <a:p>
            <a:pPr marL="285750" indent="-285750">
              <a:buClr>
                <a:schemeClr val="accent1"/>
              </a:buClr>
              <a:buFont typeface="Wingdings" panose="05000000000000000000" pitchFamily="2" charset="2"/>
              <a:buChar char="q"/>
            </a:pPr>
            <a:r>
              <a:rPr lang="en-US" sz="2400" dirty="0"/>
              <a:t>The main ambition behind all this is to </a:t>
            </a:r>
            <a:r>
              <a:rPr lang="en-US" sz="2400" b="1" dirty="0"/>
              <a:t>not</a:t>
            </a:r>
            <a:r>
              <a:rPr lang="en-US" sz="2400" dirty="0"/>
              <a:t> just keep </a:t>
            </a:r>
            <a:r>
              <a:rPr lang="en-US" sz="2400" b="1" dirty="0"/>
              <a:t>the use of AI limited to the urban areas</a:t>
            </a:r>
            <a:r>
              <a:rPr lang="en-US" sz="2400" dirty="0"/>
              <a:t> but instead </a:t>
            </a:r>
            <a:r>
              <a:rPr lang="en-US" sz="2400" b="1" dirty="0"/>
              <a:t>promote it in rural areas</a:t>
            </a:r>
            <a:r>
              <a:rPr lang="en-US" sz="2400" dirty="0"/>
              <a:t> </a:t>
            </a:r>
            <a:r>
              <a:rPr lang="en-US" sz="2400" b="1" dirty="0"/>
              <a:t>as well </a:t>
            </a:r>
            <a:r>
              <a:rPr lang="en-US" sz="2400" dirty="0"/>
              <a:t>for example; in farming</a:t>
            </a:r>
            <a:r>
              <a:rPr lang="en-US" sz="2400" b="1" dirty="0"/>
              <a:t>, use of AI can increase the efficiency of farming  significantly </a:t>
            </a:r>
            <a:r>
              <a:rPr lang="en-US" sz="2400" dirty="0"/>
              <a:t>if used properly.</a:t>
            </a:r>
            <a:endParaRPr lang="en-GB" sz="2400" dirty="0"/>
          </a:p>
        </p:txBody>
      </p:sp>
    </p:spTree>
    <p:extLst>
      <p:ext uri="{BB962C8B-B14F-4D97-AF65-F5344CB8AC3E}">
        <p14:creationId xmlns:p14="http://schemas.microsoft.com/office/powerpoint/2010/main" val="1048372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D2F40-A9D8-0822-2620-7927EA974098}"/>
              </a:ext>
            </a:extLst>
          </p:cNvPr>
          <p:cNvSpPr>
            <a:spLocks noGrp="1"/>
          </p:cNvSpPr>
          <p:nvPr>
            <p:ph type="title"/>
          </p:nvPr>
        </p:nvSpPr>
        <p:spPr>
          <a:xfrm>
            <a:off x="1640156" y="481650"/>
            <a:ext cx="8911687" cy="1280890"/>
          </a:xfrm>
        </p:spPr>
        <p:txBody>
          <a:bodyPr>
            <a:normAutofit/>
          </a:bodyPr>
          <a:lstStyle/>
          <a:p>
            <a:r>
              <a:rPr lang="en-GB" sz="5400" b="1" dirty="0"/>
              <a:t>“What I personally did”</a:t>
            </a:r>
          </a:p>
        </p:txBody>
      </p:sp>
      <p:sp>
        <p:nvSpPr>
          <p:cNvPr id="4" name="TextBox 3">
            <a:extLst>
              <a:ext uri="{FF2B5EF4-FFF2-40B4-BE49-F238E27FC236}">
                <a16:creationId xmlns:a16="http://schemas.microsoft.com/office/drawing/2014/main" id="{48551BAC-A4EF-B7B4-DC0D-0D7C535AD2C1}"/>
              </a:ext>
            </a:extLst>
          </p:cNvPr>
          <p:cNvSpPr txBox="1"/>
          <p:nvPr/>
        </p:nvSpPr>
        <p:spPr>
          <a:xfrm>
            <a:off x="755373" y="1527213"/>
            <a:ext cx="11012557" cy="4031873"/>
          </a:xfrm>
          <a:prstGeom prst="rect">
            <a:avLst/>
          </a:prstGeom>
          <a:noFill/>
        </p:spPr>
        <p:txBody>
          <a:bodyPr wrap="square" rtlCol="0">
            <a:spAutoFit/>
          </a:bodyPr>
          <a:lstStyle/>
          <a:p>
            <a:pPr marL="457200" indent="-457200">
              <a:buClr>
                <a:srgbClr val="00B050"/>
              </a:buClr>
              <a:buFont typeface="Wingdings" panose="05000000000000000000" pitchFamily="2" charset="2"/>
              <a:buChar char="ü"/>
            </a:pPr>
            <a:r>
              <a:rPr lang="en-US" sz="3200" dirty="0"/>
              <a:t>Designed and constructed a 9,000+ image multi-class dataset from scratch.</a:t>
            </a:r>
          </a:p>
          <a:p>
            <a:pPr marL="457200" indent="-457200">
              <a:buClr>
                <a:srgbClr val="00B050"/>
              </a:buClr>
              <a:buFont typeface="Wingdings" panose="05000000000000000000" pitchFamily="2" charset="2"/>
              <a:buChar char="ü"/>
            </a:pPr>
            <a:r>
              <a:rPr lang="en-GB" sz="3200" dirty="0"/>
              <a:t>Cleaned and labelled dataset</a:t>
            </a:r>
          </a:p>
          <a:p>
            <a:pPr marL="457200" indent="-457200">
              <a:buClr>
                <a:srgbClr val="00B050"/>
              </a:buClr>
              <a:buFont typeface="Wingdings" panose="05000000000000000000" pitchFamily="2" charset="2"/>
              <a:buChar char="ü"/>
            </a:pPr>
            <a:r>
              <a:rPr lang="en-GB" sz="3200" dirty="0"/>
              <a:t>Designed UI</a:t>
            </a:r>
          </a:p>
          <a:p>
            <a:pPr marL="457200" indent="-457200">
              <a:buClr>
                <a:srgbClr val="00B050"/>
              </a:buClr>
              <a:buFont typeface="Wingdings" panose="05000000000000000000" pitchFamily="2" charset="2"/>
              <a:buChar char="ü"/>
            </a:pPr>
            <a:r>
              <a:rPr lang="en-GB" sz="3200" dirty="0"/>
              <a:t>Built Flask APIs</a:t>
            </a:r>
          </a:p>
          <a:p>
            <a:pPr marL="457200" indent="-457200">
              <a:buClr>
                <a:srgbClr val="00B050"/>
              </a:buClr>
              <a:buFont typeface="Wingdings" panose="05000000000000000000" pitchFamily="2" charset="2"/>
              <a:buChar char="ü"/>
            </a:pPr>
            <a:r>
              <a:rPr lang="en-GB" sz="3200" dirty="0"/>
              <a:t>Trained &amp; evaluated models</a:t>
            </a:r>
          </a:p>
          <a:p>
            <a:pPr marL="457200" indent="-457200">
              <a:buClr>
                <a:srgbClr val="00B050"/>
              </a:buClr>
              <a:buFont typeface="Wingdings" panose="05000000000000000000" pitchFamily="2" charset="2"/>
              <a:buChar char="ü"/>
            </a:pPr>
            <a:r>
              <a:rPr lang="en-GB" sz="3200" dirty="0"/>
              <a:t>Wrote this Description presentation</a:t>
            </a:r>
          </a:p>
          <a:p>
            <a:pPr marL="457200" indent="-457200">
              <a:buClr>
                <a:srgbClr val="00B050"/>
              </a:buClr>
              <a:buFont typeface="Wingdings" panose="05000000000000000000" pitchFamily="2" charset="2"/>
              <a:buChar char="ü"/>
            </a:pPr>
            <a:endParaRPr lang="en-GB" sz="3200" dirty="0"/>
          </a:p>
        </p:txBody>
      </p:sp>
      <p:sp>
        <p:nvSpPr>
          <p:cNvPr id="3" name="TextBox 2">
            <a:extLst>
              <a:ext uri="{FF2B5EF4-FFF2-40B4-BE49-F238E27FC236}">
                <a16:creationId xmlns:a16="http://schemas.microsoft.com/office/drawing/2014/main" id="{E7064FDA-678C-1592-E35D-4455BAF9FA2C}"/>
              </a:ext>
            </a:extLst>
          </p:cNvPr>
          <p:cNvSpPr txBox="1"/>
          <p:nvPr/>
        </p:nvSpPr>
        <p:spPr>
          <a:xfrm>
            <a:off x="0" y="5160250"/>
            <a:ext cx="12192000" cy="1846659"/>
          </a:xfrm>
          <a:prstGeom prst="rect">
            <a:avLst/>
          </a:prstGeom>
          <a:noFill/>
        </p:spPr>
        <p:txBody>
          <a:bodyPr wrap="square" rtlCol="0">
            <a:spAutoFit/>
          </a:bodyPr>
          <a:lstStyle/>
          <a:p>
            <a:pPr marL="285750" indent="-285750" algn="ctr">
              <a:buClr>
                <a:srgbClr val="00B050"/>
              </a:buClr>
              <a:buFont typeface="Wingdings" panose="05000000000000000000" pitchFamily="2" charset="2"/>
              <a:buChar char="Ø"/>
            </a:pPr>
            <a:r>
              <a:rPr lang="en-US" sz="2400" i="1" dirty="0"/>
              <a:t>For more information about me, you can check out my GitHub, LinkedIn, Kaggle; username- </a:t>
            </a:r>
            <a:r>
              <a:rPr lang="en-US" sz="2400" i="1" dirty="0" err="1"/>
              <a:t>sarthaktandulje</a:t>
            </a:r>
            <a:endParaRPr lang="en-US" sz="2400" i="1" dirty="0"/>
          </a:p>
          <a:p>
            <a:pPr marL="285750" indent="-285750" algn="ctr">
              <a:buClr>
                <a:srgbClr val="00B050"/>
              </a:buClr>
              <a:buFont typeface="Wingdings" panose="05000000000000000000" pitchFamily="2" charset="2"/>
              <a:buChar char="Ø"/>
            </a:pPr>
            <a:r>
              <a:rPr lang="en-US" sz="2400" i="1" dirty="0"/>
              <a:t>To contact, email:- </a:t>
            </a:r>
            <a:r>
              <a:rPr lang="en-US" sz="2400" i="1" dirty="0">
                <a:hlinkClick r:id="rId2"/>
              </a:rPr>
              <a:t>sarthak.tandulje.official@gmail.com</a:t>
            </a:r>
            <a:endParaRPr lang="en-US" sz="2400" i="1" dirty="0"/>
          </a:p>
          <a:p>
            <a:pPr marL="285750" indent="-285750" algn="ctr">
              <a:buClr>
                <a:srgbClr val="00B050"/>
              </a:buClr>
              <a:buFont typeface="Wingdings" panose="05000000000000000000" pitchFamily="2" charset="2"/>
              <a:buChar char="Ø"/>
            </a:pPr>
            <a:r>
              <a:rPr lang="en-US" sz="2400" i="1" dirty="0"/>
              <a:t>  Phone no.:- 9270438995, X(twitter), LinkedIn, Facebook, Instagram, Discord.</a:t>
            </a:r>
          </a:p>
          <a:p>
            <a:endParaRPr lang="en-GB" dirty="0"/>
          </a:p>
        </p:txBody>
      </p:sp>
      <p:sp>
        <p:nvSpPr>
          <p:cNvPr id="7" name="Action Button: Blank 6">
            <a:hlinkClick r:id="" action="ppaction://noaction" highlightClick="1"/>
            <a:extLst>
              <a:ext uri="{FF2B5EF4-FFF2-40B4-BE49-F238E27FC236}">
                <a16:creationId xmlns:a16="http://schemas.microsoft.com/office/drawing/2014/main" id="{1AA692C8-DE31-1A80-7F76-7D077EB0FCCB}"/>
              </a:ext>
            </a:extLst>
          </p:cNvPr>
          <p:cNvSpPr/>
          <p:nvPr/>
        </p:nvSpPr>
        <p:spPr>
          <a:xfrm>
            <a:off x="304799" y="5150288"/>
            <a:ext cx="11648661" cy="1558602"/>
          </a:xfrm>
          <a:prstGeom prst="actionButtonBlank">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6782704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384</TotalTime>
  <Words>1161</Words>
  <Application>Microsoft Office PowerPoint</Application>
  <PresentationFormat>Widescreen</PresentationFormat>
  <Paragraphs>80</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Rounded MT Bold</vt:lpstr>
      <vt:lpstr>Calibri</vt:lpstr>
      <vt:lpstr>Century Gothic</vt:lpstr>
      <vt:lpstr>Wingdings</vt:lpstr>
      <vt:lpstr>Wingdings 3</vt:lpstr>
      <vt:lpstr>Wisp</vt:lpstr>
      <vt:lpstr>PROJECTS </vt:lpstr>
      <vt:lpstr>AgroVision-AI</vt:lpstr>
      <vt:lpstr>PowerPoint Presentation</vt:lpstr>
      <vt:lpstr>Here are some photos of the actual web interface of AgroVision-AI :</vt:lpstr>
      <vt:lpstr>Healthinfo-AI</vt:lpstr>
      <vt:lpstr>. </vt:lpstr>
      <vt:lpstr>Here are some photos of the actual web interface of Healthinfo-AI :</vt:lpstr>
      <vt:lpstr>Disaster Dataset</vt:lpstr>
      <vt:lpstr>.</vt:lpstr>
      <vt:lpstr>Name of Classes and number of Images:-</vt:lpstr>
      <vt:lpstr>My Research Vision</vt:lpstr>
      <vt:lpstr>“What I personally did”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Sarthak Tandulje</dc:creator>
  <cp:lastModifiedBy>Sarthak Tandulje</cp:lastModifiedBy>
  <cp:revision>18</cp:revision>
  <dcterms:created xsi:type="dcterms:W3CDTF">2025-12-31T07:50:42Z</dcterms:created>
  <dcterms:modified xsi:type="dcterms:W3CDTF">2026-01-18T09:34:02Z</dcterms:modified>
</cp:coreProperties>
</file>